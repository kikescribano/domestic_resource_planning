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12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2312F"/>
                </a:solidFill>
                <a:latin typeface="Calibri"/>
              </a:rPr>
              <a:t>Distribución de la batería de tests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Distribución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7B72"/>
              </a:solidFill>
              <a:effectLst/>
            </c:spPr>
          </c:dPt>
          <c:dPt>
            <c:idx val="1"/>
            <c:bubble3D val="0"/>
            <c:spPr>
              <a:solidFill>
                <a:srgbClr val="C25A32"/>
              </a:solidFill>
              <a:effectLst/>
            </c:spPr>
          </c:dPt>
          <c:dPt>
            <c:idx val="2"/>
            <c:bubble3D val="0"/>
            <c:spPr>
              <a:solidFill>
                <a:srgbClr val="1C46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Unitarios de dominio</c:v>
                </c:pt>
                <c:pt idx="1">
                  <c:v>Integración de casos de uso</c:v>
                </c:pt>
                <c:pt idx="2">
                  <c:v>Contrato de adaptadores / E2E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Resumen del README.md de DRP (estado 2026-08-10): Fase 0 cerrada y Fase 1 (Core MVP) en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§1 y §2: resumen ejecutivo y objetivo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§3: analogía ERP → DRP.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§4.1: core mínimo obligatorio.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naturaleza DURADERO / CONSUMIBLE y alcance deliberado del 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§4.1.1: artículo y existencia; RegistrarEntradaConsumible y FusionarExistencias.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§4.1.1 y §4.1.7: reglas mínimas de negocio y decisiones validadas.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§4.1.2: ubicaciones, jerarquía y atributos.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§4.1.4 y §5.4.1: roles y tokens acotados.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§4.1.5: préstamos, máquina de estados y alcance mínimo.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§5.1: visión de componentes. Los módulos punteados son opcionales.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§5.2: contrato de evento, mecanismo interno y catálogo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§5.6: modelo de datos multi-tenant y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§5.7: catálogo de comandos y queries de la capa de aplicación.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§6 y ADR-001 a ADR-009.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§7: distribución 60/25/15 y ejemplos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§8: roadmap y estado. Fase 0 cerrada el 2026-08-07; Fase 1 arrancada el 2026-08-10, con su alcance y sus cinco hitos en la §8.2.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§8.2: alcance, hitos y criterio de aceptación de la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5669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DRP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868680" y="276148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FC8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Domestic Resource Planning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68680" y="32918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ERP para el hogar: un core mínimo que resuelve lo esencial y módulos que se activan cuando aparece la necesidad.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526280"/>
            <a:ext cx="1559052" cy="384048"/>
          </a:xfrm>
          <a:prstGeom prst="roundRect">
            <a:avLst>
              <a:gd name="adj" fmla="val 47619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526280"/>
            <a:ext cx="15590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en curso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592324" y="4526280"/>
            <a:ext cx="950976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92324" y="452628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MVP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707892" y="4526280"/>
            <a:ext cx="1124712" cy="384048"/>
          </a:xfrm>
          <a:prstGeom prst="roundRect">
            <a:avLst>
              <a:gd name="adj" fmla="val 47619"/>
            </a:avLst>
          </a:prstGeom>
          <a:solidFill>
            <a:srgbClr val="24534F"/>
          </a:solidFill>
          <a:ln w="6350">
            <a:solidFill>
              <a:srgbClr val="2453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7892" y="4526280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2026-08-10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51389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README.md — documento de diseño del 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86600" y="1234440"/>
            <a:ext cx="4526280" cy="4343400"/>
          </a:xfrm>
          <a:prstGeom prst="roundRect">
            <a:avLst>
              <a:gd name="adj" fmla="val 2105"/>
            </a:avLst>
          </a:prstGeom>
          <a:solidFill>
            <a:srgbClr val="7FC8BE">
              <a:alpha val="8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2904" y="132588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Vivienda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1828800"/>
            <a:ext cx="3794760" cy="3291840"/>
          </a:xfrm>
          <a:prstGeom prst="roundRect">
            <a:avLst>
              <a:gd name="adj" fmla="val 2778"/>
            </a:avLst>
          </a:prstGeom>
          <a:solidFill>
            <a:srgbClr val="7FC8BE">
              <a:alpha val="14000"/>
            </a:srgbClr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98664" y="192024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FE7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Planta baja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2395728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C25A32">
              <a:alpha val="2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64424" y="2487168"/>
            <a:ext cx="2770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Trastero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2962656"/>
            <a:ext cx="2331720" cy="1133856"/>
          </a:xfrm>
          <a:prstGeom prst="roundRect">
            <a:avLst>
              <a:gd name="adj" fmla="val 8065"/>
            </a:avLst>
          </a:prstGeom>
          <a:solidFill>
            <a:srgbClr val="C25A32">
              <a:alpha val="32000"/>
            </a:srgbClr>
          </a:solidFill>
          <a:ln w="1270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0184" y="3054096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C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· Estantería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5715000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ubicación es polimórfica: un asset puede estar en una ubicación o dentro de otro asset.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PROYECTO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información del hogar vive dispersa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Hojas de cálculo, carpetas de papeles, recordatorios sueltos del móvil y la memoria de quien gestiona la casa. No hay punto único de verdad, y mucho menos algo que crezca con las necesidades de cada hogar.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450592"/>
            <a:ext cx="548640" cy="54864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27632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DRP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fecha de la ITV, en el calendario del móvil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manual de la caldera, en un cajón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del garaje, «en la cabeza»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mantenimiento, recordado por costumbre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91072" y="2084832"/>
            <a:ext cx="5349240" cy="3200400"/>
          </a:xfrm>
          <a:prstGeom prst="roundRect">
            <a:avLst>
              <a:gd name="adj" fmla="val 2571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2450592"/>
            <a:ext cx="548640" cy="5486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70064" y="246888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DRP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702552" y="3227832"/>
            <a:ext cx="4526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assets dados de alta, con su documentación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propietario y estado en un único sitio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activar el módulo CMMS, los planes de revisión se generan solos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lo ya cargado hay que rehacerlo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Visión: aplicar al hogar la disciplina de gestión de un ERP, sin obligar a implementar de golpe lo que ese hogar concreto no necesita.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ERP empresarial al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EMPRESARIAL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3912" y="138988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HOGAR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164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productivos (maquinaria, líneas)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532120" y="192938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53912" y="169164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9944" y="169164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Electrodomésticos, vehículos, mobiliario, herramientas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56032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preventivo/correctivo (CMMS)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32120" y="279806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53912" y="256032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9944" y="256032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caldera, ITV, cambio de filtros, garantías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42900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almacén / inventario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532120" y="366674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53912" y="342900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9944" y="342900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Despensa, garaje, trastero, botiquín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9768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 producción / tareas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532120" y="453542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53912" y="429768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429768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domésticas, turnos, rutinas familiares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166360"/>
            <a:ext cx="4663440" cy="731520"/>
          </a:xfrm>
          <a:prstGeom prst="roundRect">
            <a:avLst>
              <a:gd name="adj" fmla="val 1125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4672" y="5166360"/>
            <a:ext cx="4151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proyectos / eventos puntuales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532120" y="5404104"/>
            <a:ext cx="457200" cy="256032"/>
          </a:xfrm>
          <a:prstGeom prst="rightArrow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53912" y="5166360"/>
            <a:ext cx="5440680" cy="731520"/>
          </a:xfrm>
          <a:prstGeom prst="roundRect">
            <a:avLst>
              <a:gd name="adj" fmla="val 1125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9944" y="5166360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Mudanzas, reformas, celebraciones, viajes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mínimo, obligatorio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 que todo hogar necesita antes de activar ningún módulo.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8132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Gestión del hogar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aislamiento multi-tenant: agrupa usuarios, assets, ubicaciones y préstamos de una misma vivienda.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7608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Recursos y assets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6344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Alta, baja, modificación, categorización, ubicación jerárquica, propietario y documentación asociada.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2075688"/>
            <a:ext cx="475488" cy="475488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70848" y="208483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Ubicaciones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269748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jerárquica de espacios físicos, con capacidad y condiciones de almacenaje.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8132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roles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6868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roles, incluidos accesos acotados para los préstamos entre personas.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27608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interno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6344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entre módulos: el core funciona igual esté activo el módulo o no.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86200"/>
            <a:ext cx="3502152" cy="1810512"/>
          </a:xfrm>
          <a:prstGeom prst="roundRect">
            <a:avLst>
              <a:gd name="adj" fmla="val 454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458200" y="4178808"/>
            <a:ext cx="475488" cy="475488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58200" y="4178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070848" y="4187952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autenticada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58200" y="480060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canal de comunicación entre el backend y el frontend.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asset es todo el material del hogar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una caldera hasta un paquete de harina. Restringir el concepto a los bienes «importantes» dejaría fuera la mayor parte de lo que un hogar realmente gestiona. Pero no todo se comporta igual: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DURADERO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propia; se usa de forma repetida sin agotarse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unidad física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Caldera, taladro, sofá, coche, cuadro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14400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que puede ubicar a otros assets y único que se presta.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91072" y="1993392"/>
            <a:ext cx="5349240" cy="3337560"/>
          </a:xfrm>
          <a:prstGeom prst="roundRect">
            <a:avLst>
              <a:gd name="adj" fmla="val 246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56832" y="231343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231343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CONSUMIBLE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56832" y="2907792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56832" y="3108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agota o se repone; las unidades son intercambiables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656832" y="360273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CUENTA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56832" y="380390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existencia —un artículo en una ubicación—, con cantidad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656832" y="429768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56832" y="449884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Harina, detergente, pilas, bombillas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56832" y="4901184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está PRESTADO; llegar a cantidad 0 no lo da de baja.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se fija en el alta y no es modificable: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la naturaleza de un asset equivale a darlo de baja y crear otro. El core solo mantiene un contador — consumos, mínimos, caducidad y lotes son del módulo Warehouse.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EXISTENCIAS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 y existencia van separadas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artículo no es un asset: no ocupa sitio, no tiene cantidad y no se presta. Es obligatorio en un CONSUMIBLE y opcional en un DURADERO, donde permite compartir modelo y documentación entre unidades idénticas.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3840480" cy="2377440"/>
          </a:xfrm>
          <a:prstGeom prst="roundRect">
            <a:avLst>
              <a:gd name="adj" fmla="val 3462"/>
            </a:avLst>
          </a:prstGeom>
          <a:solidFill>
            <a:srgbClr val="EFF4F2"/>
          </a:solidFill>
          <a:ln w="15875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57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Articulo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054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tabla catalog_items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862072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Azúcar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· ALIMENTACION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· GRAMO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codigoBarras (opcionales)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862072"/>
            <a:ext cx="566928" cy="292608"/>
          </a:xfrm>
          <a:prstGeom prst="rightArrow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3200400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28523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7784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7784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Despensa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7784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57784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22792" y="1901952"/>
            <a:ext cx="3017520" cy="2377440"/>
          </a:xfrm>
          <a:prstGeom prst="roundRect">
            <a:avLst>
              <a:gd name="adj" fmla="val 3462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15400" y="21579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CONSUMIBLE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15400" y="24140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Existencia · Trastero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15400" y="2834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</a:t>
            </a:r>
            <a:pPr indent="0" marL="0">
              <a:buNone/>
            </a:pPr>
            <a:r>
              <a:rPr lang="en-US" sz="15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91540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· propietario · estado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unidad la fija el artículo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sus existencias van en la misma unidad; convertir es cosa de Warehouse.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4340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943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existencia viva por artículo y ubicación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9943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parcial con NULLS NOT DISTINCT que excluye estado = BAJA.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4572000"/>
            <a:ext cx="3502152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94192" y="4718304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suma; el PATCH sustituye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394192" y="5212080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 acumula; la cantidad del PATCH es absoluta.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MÍNIMAS DE NEGOCIO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core no deja hacer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47088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08176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ciclos en la jerarquía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08176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asset ni ubicación puede ser su propio ancestro.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91072" y="1572768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847088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5060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ubicación, nunca 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150608" y="213969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un Asset o una Location, jamás las dos a la vez.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200400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08176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es siempre lógica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08176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= BAJA; nada se borra. No se da de baja con hijos o préstamo activo.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91072" y="2926080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200400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50608" y="31089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DURADERO ubica y se presta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50608" y="349300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estantería contiene cosas; un paquete de harina, no.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4553712"/>
            <a:ext cx="402336" cy="40233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08176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Llegar a cero no da de baja nada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08176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consumible agotado sigue existiendo, pendiente de reposición.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1072" y="4279392"/>
            <a:ext cx="5349240" cy="1133856"/>
          </a:xfrm>
          <a:prstGeom prst="roundRect">
            <a:avLst>
              <a:gd name="adj" fmla="val 725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4553712"/>
            <a:ext cx="402336" cy="402336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4553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50608" y="446227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artículo se retira, no se borra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50608" y="48463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retired_at cuando no le queda existencia viva: las bajas siguen apuntando a él.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Juntar dos existencias del mismo artículo creadas por separado es FusionarExistencias, no un MoverAsset: la fusión decide qué ubicación y qué propietario sobreviven, y eso lo elige el usuario.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Jerarquía y ubicación polimórfica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35024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83080" y="1335024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39112" y="12801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00253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7830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240487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260604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2825496"/>
            <a:ext cx="182880" cy="182880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 baja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25880" y="322783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5880" y="373989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54480" y="342900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92224" y="364845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03120" y="34290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Trastero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1828800" y="4050792"/>
            <a:ext cx="0" cy="51206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0" y="456285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425196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95144" y="447141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06040" y="42519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 de trastero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828800" y="4050792"/>
            <a:ext cx="0" cy="1335024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28800" y="5385816"/>
            <a:ext cx="228600" cy="0"/>
          </a:xfrm>
          <a:prstGeom prst="line">
            <a:avLst/>
          </a:prstGeom>
          <a:noFill/>
          <a:ln w="15875">
            <a:solidFill>
              <a:srgbClr val="C3D2C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5074920"/>
            <a:ext cx="3108960" cy="621792"/>
          </a:xfrm>
          <a:prstGeom prst="roundRect">
            <a:avLst>
              <a:gd name="adj" fmla="val 13235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95144" y="5294376"/>
            <a:ext cx="182880" cy="182880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74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 de trabajo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035040" y="1783080"/>
            <a:ext cx="5608015" cy="4160520"/>
          </a:xfrm>
          <a:prstGeom prst="roundRect">
            <a:avLst>
              <a:gd name="adj" fmla="val 1978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0" y="2011680"/>
            <a:ext cx="48764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 de una Location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446520" y="2450592"/>
            <a:ext cx="47850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nombre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padre (opcional, para la jerarquía)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Capacidad: volumen, peso máximo o nº de unidades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ambientales: temperatura, humedad, luz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y observaciones libres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4160520"/>
            <a:ext cx="4876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6446520" y="4544568"/>
            <a:ext cx="47850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ubicación no puede ser su propia ancestra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informa capacidad, superarla advierte pero no bloquea: el sistema solo cuenta unidades con certeza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Location no es un recurso del hogar: es el contenedor físico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roles, dos alcances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roles estructurales pertenecen a usuarios del hogar con cuenta completa; los contextuales van ligados a un préstamo concreto y pueden recaer en personas externas.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 del hogar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completo de assets, ubicaciones y usuarios; gestión de roles; activar y desactivar módulos.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21024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21024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21024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Miembro del hogar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21024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HOGAR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621024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assets y ubicaciones; inicia y gestiona préstamos. Sin gestión de usuarios ni módulos.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81344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37376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Prestador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437376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37376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del préstamo y confirma la entrega del asset.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997696" y="1938528"/>
            <a:ext cx="2651760" cy="288036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53728" y="22128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3728" y="22128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253728" y="2651760"/>
            <a:ext cx="21396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 del préstamo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253728" y="3456432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PRÉSTAMO CONCRETO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253728" y="3749040"/>
            <a:ext cx="21396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el estado y la fecha prevista; confirma la devolución.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acceso acotado por token (JWT con loanId y rol, sin sub de usuario) se aplica únicamente cuando la persona no tiene cuenta completa en el sistema.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concepto mínimo dentro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61772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1772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0" y="1572768"/>
            <a:ext cx="2926080" cy="868680"/>
          </a:xfrm>
          <a:prstGeom prst="roundRect">
            <a:avLst>
              <a:gd name="adj" fmla="val 9474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0" y="157276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VENCIDO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8620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inicia un préstamo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1874520"/>
            <a:ext cx="566928" cy="274320"/>
          </a:xfrm>
          <a:prstGeom prst="rightArrow">
            <a:avLst/>
          </a:prstGeom>
          <a:solidFill>
            <a:srgbClr val="AFC2BF"/>
          </a:solidFill>
          <a:ln w="6350">
            <a:solidFill>
              <a:srgbClr val="AFC2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95160" y="250545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la fecha prevista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10515600" cy="384048"/>
          </a:xfrm>
          <a:prstGeom prst="leftArrow">
            <a:avLst/>
          </a:prstGeom>
          <a:solidFill>
            <a:srgbClr val="E3EDEA"/>
          </a:solidFill>
          <a:ln w="9525">
            <a:solidFill>
              <a:srgbClr val="C3D2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80160" y="28895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46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confirmada — desde PRESTADO o desde VENCIDO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Atributos mínimos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asset prestado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Prestador y receptor: del hogar o personas externas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inicio, de devolución prevista y real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ACTIVO, DEVUELTO o VENCIDO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349240" cy="2148840"/>
          </a:xfrm>
          <a:prstGeom prst="roundRect">
            <a:avLst>
              <a:gd name="adj" fmla="val 3830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56832" y="384048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Reglas y alcance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702552" y="4297680"/>
            <a:ext cx="4526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préstamo ACTIVO por asset (índice único parcial)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se prestan assets DURADERO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Ceder un consumible es un AjustarCantidadAsset, no un préstamo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préstamo crece, saldrá del core como módulo propio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componentes, un monolito modular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1B4B48"/>
          </a:solidFill>
          <a:ln w="12700">
            <a:solidFill>
              <a:srgbClr val="2F63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 · React sobre Vite · mobile-first, de 375 px a ultrawide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0" y="2212848"/>
            <a:ext cx="301752" cy="384048"/>
          </a:xfrm>
          <a:prstGeom prst="down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0" y="22402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/ REST + JWT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94415" cy="731520"/>
          </a:xfrm>
          <a:prstGeom prst="roundRect">
            <a:avLst>
              <a:gd name="adj" fmla="val 1125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6974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autenticada · Spring Security + JWT · único canal backend ↔ frontend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C4644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/ Assets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577340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07208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16936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916936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835908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65776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75504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75504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324344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434072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353044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582912" y="3675888"/>
            <a:ext cx="2057400" cy="960120"/>
          </a:xfrm>
          <a:prstGeom prst="roundRect">
            <a:avLst>
              <a:gd name="adj" fmla="val 8571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3840480"/>
            <a:ext cx="1837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692640" y="4206240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E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0611612" y="4636008"/>
            <a:ext cx="0" cy="210312"/>
          </a:xfrm>
          <a:prstGeom prst="line">
            <a:avLst/>
          </a:prstGeom>
          <a:noFill/>
          <a:ln w="15875">
            <a:solidFill>
              <a:srgbClr val="3C6663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48640" y="4846320"/>
            <a:ext cx="11094415" cy="658368"/>
          </a:xfrm>
          <a:prstGeom prst="roundRect">
            <a:avLst>
              <a:gd name="adj" fmla="val 12500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846320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 (in-process) · publicación y suscripción entre módulos, sin que el core sepa quién escucha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4023360" y="5669280"/>
            <a:ext cx="4142232" cy="566928"/>
          </a:xfrm>
          <a:prstGeom prst="roundRect">
            <a:avLst>
              <a:gd name="adj" fmla="val 14516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23360" y="566928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16+ · RLS activado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BUS INTERNO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contrato y nueve eventos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206240" cy="2834640"/>
          </a:xfrm>
          <a:prstGeom prst="roundRect">
            <a:avLst>
              <a:gd name="adj" fmla="val 29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DomainEvent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121408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     UUID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      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occurredAt   Instant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aggregateId  String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      Int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1C46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payload      JSON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727448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In-process: monolito modular, pub/sub en memoria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at-least-once: handlers idempotentes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fallo del módulo no afecta a la transacción del core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candidata: Transactional Outbox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74920" y="1481328"/>
            <a:ext cx="6568135" cy="4553712"/>
          </a:xfrm>
          <a:prstGeom prst="roundRect">
            <a:avLst>
              <a:gd name="adj" fmla="val 1807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91640"/>
            <a:ext cx="5928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inicial de eventos del core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22392" y="22951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78424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92440" y="21762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 artículo en el catálogo del hogar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22392" y="27066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78424" y="2587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92440" y="25877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alta un asset o la primera existencia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22392" y="31181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78424" y="2999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092440" y="29992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ubicación de un asset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22392" y="35295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78424" y="34107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AssetHierarchyChanged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92440" y="34107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el asset padre o la composición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22392" y="394106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78424" y="38221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92440" y="382219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cambia la cantidad de un CONSUMIBLE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22392" y="435254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8424" y="42336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092440" y="423367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da de baja un asset o se fusiona una existencia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22392" y="476402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78424" y="4645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92440" y="464515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crea una ubicación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22392" y="517550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8424" y="50566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092440" y="505663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inicia un préstamo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22392" y="5586984"/>
            <a:ext cx="128016" cy="128016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78424" y="5468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1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092440" y="5468112"/>
            <a:ext cx="3184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 confirma la devolución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Aislamiento multi-tenant en dos capas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hogares comparten la misma base de datos. El aislamiento se defiende dos veces, de forma independiente.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029968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36192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caso de uso y todo repositorio filtra por el householdId del token. Nunca se confía en un householdId recibido del cliente.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91072" y="1737360"/>
            <a:ext cx="5349240" cy="1965960"/>
          </a:xfrm>
          <a:prstGeom prst="roundRect">
            <a:avLst>
              <a:gd name="adj" fmla="val 4186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11112" y="2029968"/>
            <a:ext cx="512064" cy="512064"/>
          </a:xfrm>
          <a:prstGeom prst="ellipse">
            <a:avLst/>
          </a:prstGeom>
          <a:solidFill>
            <a:srgbClr val="1C4644"/>
          </a:solidFill>
          <a:ln w="6350">
            <a:solidFill>
              <a:srgbClr val="1C46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11112" y="202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78624" y="20482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 · RLS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38544" y="2651760"/>
            <a:ext cx="46542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tabla con household_id tiene Row-Level Security y una política que limita las filas al hogar de la sesión. Si un repositorio olvida el filtro, PostgreSQL sigue sin devolver filas ajenas.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6903720" cy="1481328"/>
          </a:xfrm>
          <a:prstGeom prst="roundRect">
            <a:avLst>
              <a:gd name="adj" fmla="val 555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41648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ENABLE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ALTER TABLE assets FORCE ROW LEVEL SECURITY;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POLICY assets_household_isolation ON assets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FD8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(household_id = current_setting('app.household_id')::uuid);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680960" y="3886200"/>
            <a:ext cx="3959352" cy="1481328"/>
          </a:xfrm>
          <a:prstGeom prst="roundRect">
            <a:avLst>
              <a:gd name="adj" fmla="val 5556"/>
            </a:avLst>
          </a:prstGeom>
          <a:solidFill>
            <a:srgbClr val="F7E9E2"/>
          </a:solidFill>
          <a:ln w="6350">
            <a:solidFill>
              <a:srgbClr val="F7E9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0" y="402336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25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condiciones fáciles de pasar por alto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73568" y="4352544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de BD de la aplicación no puede ser superusuario ni tener BYPASSRLS</a:t>
            </a:r>
            <a:endParaRPr lang="en-US" sz="1100" dirty="0"/>
          </a:p>
          <a:p>
            <a:pPr marL="342900" indent="-342900">
              <a:lnSpc>
                <a:spcPts val="15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43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falta FORCE ROW LEVEL SECURITY para que la política se aplique al propietario de la tabla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55595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fija SET LOCAL app.household_id al abrir cada transacción; las políticas se versionan como migraciones Flyway, igual que el esquema (ADR-003 y ADR-004).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DE APLICACIÓN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casos de uso del core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949440" cy="4343400"/>
          </a:xfrm>
          <a:prstGeom prst="roundRect">
            <a:avLst>
              <a:gd name="adj" fmla="val 1895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682496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Comandos · 14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011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valida sus reglas y, cuando corresponde, publica su evento en el bus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96112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CrearArticulo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CatalogItemCreated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2505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25696" y="2359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CrearAsset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9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6112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RegistrarEntradaConsumible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AssetCreated / QuantityChanged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06240" y="2962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2816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MoverAsset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25696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AssetMoved / HierarchyChanged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96112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FusionarExistencias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15568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QuantityChanged + Deactivated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206240" y="34198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25696" y="3273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AjustarCantidadAsset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25696" y="34838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AssetQuantityChanged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96112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DarDeBajaAsset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AssetDeactivated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206240" y="38770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37307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RetirarArticulo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25696" y="39410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96112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15568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CrearLocation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15568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LocationCreated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06240" y="43342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25696" y="41879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CrearUsuario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425696" y="43982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96112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15568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ModificarRolUsuario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15568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206240" y="47914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25696" y="46451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IniciarPrestamo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425696" y="48554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LoanStarted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96112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5568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ConfirmarDevolucion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15568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LoanReturned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206240" y="5248656"/>
            <a:ext cx="118872" cy="118872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25696" y="51023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GenerarTokenAccesoExterno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425696" y="5312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7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772400" y="1481328"/>
            <a:ext cx="3870655" cy="4343400"/>
          </a:xfrm>
          <a:prstGeom prst="roundRect">
            <a:avLst>
              <a:gd name="adj" fmla="val 2126"/>
            </a:avLst>
          </a:prstGeom>
          <a:solidFill>
            <a:srgbClr val="E3EDEA"/>
          </a:solidFill>
          <a:ln w="6350">
            <a:solidFill>
              <a:srgbClr val="E3ED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119872" y="1682496"/>
            <a:ext cx="317571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Consultas · 6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8119872" y="2011680"/>
            <a:ext cx="3175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catálogo, los assets y el hogar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156448" y="2395728"/>
            <a:ext cx="3102559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ListarArticulos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ListarAssets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ObtenerAsset / ListarHijosDeAsset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ListarLocations / ObtenerLocation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ListarUsuarios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ObtenerPrestamo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156448" y="4526280"/>
            <a:ext cx="310255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consulta queda acotada al householdId del token. Los listados excluyen por defecto los assets dados de baja y los artículos retirados.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Decisiones ya cerradas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Kotlin + Spring Boot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04672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Monolito modular, Clean Architecture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21024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21024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16+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3621024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como segunda capa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81344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MIGRACIONES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37376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Flyway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37376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plano versionado, esquema y políticas juntos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97696" y="160020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53728" y="183794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253728" y="210312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bus in-process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253728" y="267919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propio sobre Spring, sin dependencia añadida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04672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FE ↔ BE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 + JWT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804672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Security; tokens acotados de préstamo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64992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621024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21024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3.0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3621024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 es la fuente de verdad de la API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81344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37376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437376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sobre Vite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437376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de 375 px a ultrawide; WCAG 2.2 AA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997696" y="3611880"/>
            <a:ext cx="2651760" cy="1737360"/>
          </a:xfrm>
          <a:prstGeom prst="roundRect">
            <a:avLst>
              <a:gd name="adj" fmla="val 4737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253728" y="384962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253728" y="411480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JUnit 5 + Testcontainers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9253728" y="4690872"/>
            <a:ext cx="21396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y Playwright en el frontend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532120"/>
            <a:ext cx="11094415" cy="566928"/>
          </a:xfrm>
          <a:prstGeom prst="roundRect">
            <a:avLst>
              <a:gd name="adj" fmla="val 14516"/>
            </a:avLst>
          </a:prstGeom>
          <a:solidFill>
            <a:srgbClr val="12312F"/>
          </a:solidFill>
          <a:ln w="6350">
            <a:solidFill>
              <a:srgbClr val="12312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1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Nueve ADR recogen el porqué y las alternativas descartadas: monolito modular · Spring Boot · Row-Level Security · Flyway · ficheros en disco · React + Vite · contrato como fuente de verdad · monorepo · correo saliente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 de testing, igual en BE y FE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48463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06440" y="1737360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086600" y="193852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Unitarios de dominio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340864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reglas puras, sin dependencias externas. Ej.: un Asset no puede ser su propio ancestro.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806440" y="3273552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345643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5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086600" y="347472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casos de uso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877056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Orquestación completa con dependencias reales o en memoria. Ej.: CrearAsset persiste y publica AssetCreated.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4809744"/>
            <a:ext cx="5836615" cy="1280160"/>
          </a:xfrm>
          <a:prstGeom prst="roundRect">
            <a:avLst>
              <a:gd name="adj" fmla="val 6429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80760" y="499262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46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086600" y="5010912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adaptadores y E2E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5413248"/>
            <a:ext cx="4236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adaptador cumple el contrato externo. Ej.: POST /assets/intake responde 201 y luego 200 acumulando.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por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65960"/>
            <a:ext cx="512064" cy="512064"/>
          </a:xfrm>
          <a:prstGeom prst="ellipse">
            <a:avLst/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Definición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stack, alcance del core y estrategia de testing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2E7B72"/>
          </a:solidFill>
          <a:ln w="6350">
            <a:solidFill>
              <a:srgbClr val="2E7B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EFF4F2"/>
          </a:solidFill>
          <a:ln w="6350">
            <a:solidFill>
              <a:srgbClr val="EFF4F2"/>
            </a:solidFill>
            <a:prstDash val="solid"/>
          </a:ln>
          <a:effectLst>
            <a:outerShdw sx="100000" sy="100000" kx="0" ky="0" algn="bl" rotWithShape="0" blurRad="127000" dist="25400" dir="5400000">
              <a:srgbClr val="0B1F1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1024" y="1965960"/>
            <a:ext cx="512064" cy="512064"/>
          </a:xfrm>
          <a:prstGeom prst="ellipse">
            <a:avLst/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1024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9392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21024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MVP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621024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autenticación, API REST, event bus y cliente web completo del core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21024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25A32"/>
          </a:solidFill>
          <a:ln w="6350">
            <a:solidFill>
              <a:srgbClr val="C25A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1024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81344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37376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95744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37376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módulo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37376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Candidato a definir entre los cuatro de prioridad alta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37376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37376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997696" y="1691640"/>
            <a:ext cx="2651760" cy="324612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3DF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53728" y="1965960"/>
            <a:ext cx="512064" cy="512064"/>
          </a:xfrm>
          <a:prstGeom prst="ellipse">
            <a:avLst/>
          </a:prstGeom>
          <a:solidFill>
            <a:srgbClr val="C3D2CF"/>
          </a:solidFill>
          <a:ln w="6350">
            <a:solidFill>
              <a:srgbClr val="C3D2C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53728" y="19659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912096" y="19842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253728" y="260604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23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adicionales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53728" y="3383280"/>
            <a:ext cx="21396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el backlog de módulos futuros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253728" y="438912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E7EDEB"/>
          </a:solidFill>
          <a:ln w="6350">
            <a:solidFill>
              <a:srgbClr val="D3DF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253728" y="43891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7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1663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2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validación de la Fase 1 (ADR-001): un recorrido vertical que atraviese frontend, API autenticada, aplicación, dominio y PostgreSQL, con pruebas en los tres niveles.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Fase 1 está en marcha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C4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definición cerrada y el andamiaje en pie, lo que queda es construir: el core completo, entregado en hitos que atraviesan las capas en vertical.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VERTICAL QUE VALIDA LA FASE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42032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25496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25496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autenticada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18888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02352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2352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95744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9208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2E7B72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79208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372600" y="2825496"/>
            <a:ext cx="237744" cy="237744"/>
          </a:xfrm>
          <a:prstGeom prst="rightArrow">
            <a:avLst/>
          </a:prstGeom>
          <a:solidFill>
            <a:srgbClr val="7FC8BE"/>
          </a:solidFill>
          <a:ln w="6350">
            <a:solidFill>
              <a:srgbClr val="7FC8B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56064" y="2560320"/>
            <a:ext cx="1947672" cy="777240"/>
          </a:xfrm>
          <a:prstGeom prst="roundRect">
            <a:avLst>
              <a:gd name="adj" fmla="val 10588"/>
            </a:avLst>
          </a:prstGeom>
          <a:solidFill>
            <a:srgbClr val="1B4B48"/>
          </a:solidFill>
          <a:ln w="12700">
            <a:solidFill>
              <a:srgbClr val="7FC8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56064" y="2560320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Hito 0, ya cerrado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96112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Monorepo, integración continua, contrato saneado y el reparto del README a docs/, que la Fase 0 había aplazado a propósito.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91072" y="39319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163A38"/>
          </a:solidFill>
          <a:ln w="12700">
            <a:solidFill>
              <a:srgbClr val="2F57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38544" y="41605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Módulos con prioridad alta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38544" y="45720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FD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Warehouse, mantenimiento (CMMS), compras y proveedores, los cuatro por diseñar. El resto queda en backlog abierto.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8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README.md · documento vivo, última actualización 2026-08-10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DRP · Domestic Resource Planning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545775" y="63825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DRP · Domestic Resource Planning — resumen del README</dc:title>
  <dc:subject>PptxGenJS Presentation</dc:subject>
  <dc:creator>DRP</dc:creator>
  <cp:lastModifiedBy>DRP</cp:lastModifiedBy>
  <cp:revision>1</cp:revision>
  <dcterms:created xsi:type="dcterms:W3CDTF">2026-08-10T19:05:18Z</dcterms:created>
  <dcterms:modified xsi:type="dcterms:W3CDTF">2026-08-10T19:05:18Z</dcterms:modified>
</cp:coreProperties>
</file>