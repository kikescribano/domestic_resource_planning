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1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312F"/>
                </a:solidFill>
                <a:latin typeface="Calibri"/>
              </a:rPr>
              <a:t>Distribución de la batería de tests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B72"/>
              </a:solidFill>
              <a:effectLst/>
            </c:spPr>
          </c:dPt>
          <c:dPt>
            <c:idx val="1"/>
            <c:bubble3D val="0"/>
            <c:spPr>
              <a:solidFill>
                <a:srgbClr val="C25A32"/>
              </a:solidFill>
              <a:effectLst/>
            </c:spPr>
          </c:dPt>
          <c:dPt>
            <c:idx val="2"/>
            <c:bubble3D val="0"/>
            <c:spPr>
              <a:solidFill>
                <a:srgbClr val="1C4644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Unitarios de dominio</c:v>
                </c:pt>
                <c:pt idx="1">
                  <c:v>Integración de casos de uso</c:v>
                </c:pt>
                <c:pt idx="2">
                  <c:v>Contrato de adaptadores / E2E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7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Resumen del README.md de DRP (estado 2026-08-10): Fase 0 cerrada y Fase 1 (Core MVP) en curso, con el Hito 0 completado.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§1 y §2: resumen ejecutivo y objetivo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§3: analogía ERP → DRP.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§4.1: core mínimo obligatorio.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§4.1.1: naturaleza DURABLE / CONSUMABLE y alcance deliberado del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§4.1.1: artículo y existencia; RegisterConsumableIntake y MergeStockItems.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§4.1.1 y §4.1.7: reglas mínimas de negocio y decisiones validadas.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§4.1.2: ubicaciones, jerarquía y atributos.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§4.1.4 y §5.4.1: roles y tokens acotados.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§4.1.5: préstamos, máquina de estados y alcance mínimo.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§4.2: módulos futuros activables, cada uno con estado y prioridad. Trece filas, sin fila de backlog.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§5.1: visión de componentes. Los módulos punteados son opcionales y van agrupados por prioridad, como en el diagrama del README; el detalle de los trece está en la diapositiva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§5.2: contrato de evento, mecanismo interno y catálogo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§5.6: modelo de datos multi-tenant y Row-Level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§5.7: catálogo de comandos y queries de la capa de 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§6 y ADR-001 a ADR-009.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§7: distribución 60/25/15 y ejemplos por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§8: roadmap y estado. Fase 0 cerrada el 2026-08-07; Fase 1 arrancada el 2026-08-10, con sus cinco hitos en docs/common/product/roadmap.md.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§8, §9 y §11: cierre de la Fase 0 y arranque de la Fase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669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DRP</a:t>
            </a:r>
            <a:endParaRPr lang="en-US" sz="9200" dirty="0"/>
          </a:p>
        </p:txBody>
      </p:sp>
      <p:sp>
        <p:nvSpPr>
          <p:cNvPr id="3" name="Text 1"/>
          <p:cNvSpPr/>
          <p:nvPr/>
        </p:nvSpPr>
        <p:spPr>
          <a:xfrm>
            <a:off x="868680" y="27614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FC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Domestic Resource Planning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32918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ERP para el hogar: un core mínimo que resuelve lo esencial y módulos que se activan cuando aparece la necesidad.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526280"/>
            <a:ext cx="1559052" cy="384048"/>
          </a:xfrm>
          <a:prstGeom prst="roundRect">
            <a:avLst>
              <a:gd name="adj" fmla="val 47619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52628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en curso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92324" y="4526280"/>
            <a:ext cx="950976" cy="384048"/>
          </a:xfrm>
          <a:prstGeom prst="roundRect">
            <a:avLst>
              <a:gd name="adj" fmla="val 47619"/>
            </a:avLst>
          </a:prstGeom>
          <a:solidFill>
            <a:srgbClr val="24534F"/>
          </a:solidFill>
          <a:ln w="6350">
            <a:solidFill>
              <a:srgbClr val="245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2324" y="452628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07892" y="4526280"/>
            <a:ext cx="1124712" cy="384048"/>
          </a:xfrm>
          <a:prstGeom prst="roundRect">
            <a:avLst>
              <a:gd name="adj" fmla="val 47619"/>
            </a:avLst>
          </a:prstGeom>
          <a:solidFill>
            <a:srgbClr val="24534F"/>
          </a:solidFill>
          <a:ln w="6350">
            <a:solidFill>
              <a:srgbClr val="2453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7892" y="452628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5138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README.md — documento de diseño del 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234440"/>
            <a:ext cx="4526280" cy="4343400"/>
          </a:xfrm>
          <a:prstGeom prst="roundRect">
            <a:avLst>
              <a:gd name="adj" fmla="val 2105"/>
            </a:avLst>
          </a:prstGeom>
          <a:solidFill>
            <a:srgbClr val="7FC8BE">
              <a:alpha val="8000"/>
            </a:srgbClr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2904" y="132588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· Vivienda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52360" y="1828800"/>
            <a:ext cx="3794760" cy="3291840"/>
          </a:xfrm>
          <a:prstGeom prst="roundRect">
            <a:avLst>
              <a:gd name="adj" fmla="val 2778"/>
            </a:avLst>
          </a:prstGeom>
          <a:solidFill>
            <a:srgbClr val="7FC8BE">
              <a:alpha val="14000"/>
            </a:srgbClr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98664" y="192024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· Planta baja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2395728"/>
            <a:ext cx="3063240" cy="2212848"/>
          </a:xfrm>
          <a:prstGeom prst="roundRect">
            <a:avLst>
              <a:gd name="adj" fmla="val 4132"/>
            </a:avLst>
          </a:prstGeom>
          <a:solidFill>
            <a:srgbClr val="C25A32">
              <a:alpha val="22000"/>
            </a:srgbClr>
          </a:solidFill>
          <a:ln w="12700">
            <a:solidFill>
              <a:srgbClr val="C25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64424" y="248716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Trastero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3880" y="2962656"/>
            <a:ext cx="2331720" cy="1133856"/>
          </a:xfrm>
          <a:prstGeom prst="roundRect">
            <a:avLst>
              <a:gd name="adj" fmla="val 8065"/>
            </a:avLst>
          </a:prstGeom>
          <a:solidFill>
            <a:srgbClr val="C25A32">
              <a:alpha val="32000"/>
            </a:srgbClr>
          </a:solidFill>
          <a:ln w="12700">
            <a:solidFill>
              <a:srgbClr val="C25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305409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Estantería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86600" y="571500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ubicación es polimórfica: un asset puede estar en una ubicación o dentro de otro asset.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información del hogar vive dispersa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de cálculo, carpetas de papeles, recordatorios sueltos del móvil y la memoria de quien gestiona la casa. No hay punto único de verdad, y mucho menos algo que crezca con las necesidades de cada hogar.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450592"/>
            <a:ext cx="548640" cy="54864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27632" y="24688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DRP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3227832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 la ITV, en el calendario del móvil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manual de la caldera, en un cajón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del garaje, «en la cabeza»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mantenimiento, recordado por costumbre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2084832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2450592"/>
            <a:ext cx="548640" cy="5486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70064" y="24688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DRP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02552" y="3227832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assets dados de alta, con su documentación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Ubicación, propietario y estado en un único sitio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activar el módulo CMMS, los planes de revisión se generan solos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lo ya cargado hay que rehacerlo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aplicar al hogar la disciplina de gestión de un ERP, sin obligar a implementar de golpe lo que ese hogar concreto no necesita.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ERP empresarial al hogar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EMPRESARIAL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3912" y="133502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HOGAR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2763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productivos (maquinaria, líneas)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32120" y="1773936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53912" y="1627632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9944" y="1627632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Electrodomésticos, vehículos, mobiliario, herramientas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49424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preventivo/correctivo (CMMS)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32120" y="2395728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3912" y="2249424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249424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caldera, ITV, cambio de filtros, garantías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871216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almacén / inventario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3017520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3912" y="2871216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871216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Despensa, garaje, trastero, botiquín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493008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aprovisionamiento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32120" y="3639312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3493008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3493008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la compra, reposición de lo que se agota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1480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de proveedores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532120" y="4261104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411480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41148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Fontanero, servicio técnico de la caldera, taller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736592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73659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producción / tareas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532120" y="4882896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53912" y="4736592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736592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domésticas, turnos, rutinas familiares, menú semanal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358384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358384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/ eventos puntuales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532120" y="5504688"/>
            <a:ext cx="457200" cy="256032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3912" y="5358384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5358384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Mudanzas, reformas, celebraciones, viajes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core mínimo, obligatorio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piezas que todo hogar necesita antes de activar ningún módulo.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75688"/>
            <a:ext cx="475488" cy="475488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1328" y="20848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hogar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aislamiento multi-tenant: agrupa usuarios, assets, ubicaciones y préstamos de una misma vivienda.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75688"/>
            <a:ext cx="475488" cy="475488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6088" y="20848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assets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69748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baja, modificación, categorización, ubicación jerárquica, propietario y documentación asociada.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75688"/>
            <a:ext cx="475488" cy="475488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70848" y="20848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269748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jerárquica de espacios físicos, con capacidad y condiciones de almacenaje.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178808"/>
            <a:ext cx="475488" cy="475488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81328" y="4187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y roles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80060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roles, incluidos accesos acotados para los préstamos entre personas.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88620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4178808"/>
            <a:ext cx="475488" cy="475488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4187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bus interno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3440" y="480060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entre módulos: el core funciona igual esté activo el módulo o no.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886200"/>
            <a:ext cx="3502152" cy="1810512"/>
          </a:xfrm>
          <a:prstGeom prst="roundRect">
            <a:avLst>
              <a:gd name="adj" fmla="val 454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4178808"/>
            <a:ext cx="475488" cy="475488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70848" y="4187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autenticada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58200" y="480060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canal de comunicación entre el backend y el frontend.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asset es todo el material del hogar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una caldera hasta un paquete de harina. Restringir el concepto a los bienes «importantes» dejaría fuera la mayor parte de lo que un hogar realmente gestiona. Pero no todo se comporta igual: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1343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13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propia; se usa de forma repetida sin agotarse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6027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CUENTA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8039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unidad física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Caldera, taladro, sofá, coche, cuadro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9011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que puede ubicar a otros assets y único que se presta.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072" y="1993392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56832" y="231343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313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56832" y="29077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56832" y="3108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agota o se repone; las unidades son intercambiables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56832" y="36027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CUENTA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56832" y="38039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existencia —un artículo en una ubicación—, con cantidad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56832" y="429768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56832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Harina, detergente, pilas, bombillas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56832" y="49011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está LENT; llegar a cantidad 0 no lo da de baja.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50468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se fija en el alta y no es modificable: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naturaleza de un asset equivale a darlo de baja y crear otro. El core solo mantiene un contador — consumos, mínimos, caducidad y lotes son del módulo Warehouse.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EXISTENCIAS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y existencia van separadas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artículo no es un asset: no ocupa sitio, no tiene cantidad y no se presta. Es obligatorio en un CONSUMABLE y opcional en un DURABLE, donde permite compartir modelo y documentación entre unidades idénticas.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3840480" cy="2377440"/>
          </a:xfrm>
          <a:prstGeom prst="roundRect">
            <a:avLst>
              <a:gd name="adj" fmla="val 3462"/>
            </a:avLst>
          </a:prstGeom>
          <a:solidFill>
            <a:srgbClr val="EFF4F2"/>
          </a:solidFill>
          <a:ln w="15875">
            <a:solidFill>
              <a:srgbClr val="2E7B7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57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Artículo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054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articles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Azúcar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categoryId · Alimentación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GRAM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barcode (opcionales)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2862072"/>
            <a:ext cx="566928" cy="292608"/>
          </a:xfrm>
          <a:prstGeom prst="rightArrow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32004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85232" y="1901952"/>
            <a:ext cx="3017520" cy="2377440"/>
          </a:xfrm>
          <a:prstGeom prst="roundRect">
            <a:avLst>
              <a:gd name="adj" fmla="val 3462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CONSUMABLE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24140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Existencia · Despensa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6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1.300</a:t>
            </a:r>
            <a:pPr indent="0" marL="0">
              <a:buNone/>
            </a:pPr>
            <a:r>
              <a:rPr lang="en-US" sz="15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5778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· propietario · estado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22792" y="1901952"/>
            <a:ext cx="3017520" cy="2377440"/>
          </a:xfrm>
          <a:prstGeom prst="roundRect">
            <a:avLst>
              <a:gd name="adj" fmla="val 3462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CONSUMABLE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15400" y="24140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Existencia · Trastero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46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pPr indent="0" marL="0">
              <a:buNone/>
            </a:pPr>
            <a:r>
              <a:rPr lang="en-US" sz="15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91540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· propietario · estado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5021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71830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la fija el artículo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52120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sus existencias van en la misma unidad; convertir es cosa de Warehouse.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572000"/>
            <a:ext cx="35021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471830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existencia viva por artículo y ubicación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9432" y="52120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único parcial con NULLS NOT DISTINCT que excluye status = DECOMMISSIONED.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4572000"/>
            <a:ext cx="35021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4718304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entrada suma; el PATCH sustituye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94192" y="52120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RegisterConsumableIntake acumula; la cantidad del PATCH es absoluta.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MÍNIMAS DE NEGOCIO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core no deja hacer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ciclos en la jerarquía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08176" y="21396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asset ni ubicación puede ser su propio ancestro.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572768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47088"/>
            <a:ext cx="402336" cy="402336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0608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ubicación, nunca dos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50608" y="21396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 Asset o una Location, jamás las dos a la vez.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200400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08176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baja es siempre lógica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08176" y="34930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DECOMMISSIONED; nada se borra. No se da de baja con hijos o préstamo abierto.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91072" y="2926080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200400"/>
            <a:ext cx="402336" cy="402336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50608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DURABLE ubica y se presta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50608" y="34930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estantería contiene cosas; un paquete de harina, no.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553712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08176" y="4462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 cero no da de baja nada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08176" y="4846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consumible agotado sigue existiendo, pendiente de reposición.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1072" y="4279392"/>
            <a:ext cx="5349240" cy="1133856"/>
          </a:xfrm>
          <a:prstGeom prst="roundRect">
            <a:avLst>
              <a:gd name="adj" fmla="val 725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4553712"/>
            <a:ext cx="402336" cy="402336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50608" y="4462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artículo se retira, no se borra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50608" y="4846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retired_at cuando no le queda existencia viva: las bajas siguen apuntando a él.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632704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dos existencias del mismo artículo creadas por separado es MergeStockItems, no un MoveAsset: la fusión decide qué ubicación y qué propietario sobreviven, y eso lo elige el usuario.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 y ubicación polimórfica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82880" cy="18288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80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83080" y="1335024"/>
            <a:ext cx="182880" cy="18288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9112" y="1280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002536"/>
            <a:ext cx="182880" cy="18288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830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2404872"/>
            <a:ext cx="0" cy="512064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916936"/>
            <a:ext cx="228600" cy="0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60604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9304" y="2825496"/>
            <a:ext cx="182880" cy="18288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6060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baja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25880" y="3227832"/>
            <a:ext cx="0" cy="512064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3739896"/>
            <a:ext cx="228600" cy="0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342900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3648456"/>
            <a:ext cx="182880" cy="18288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4290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Trastero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828800" y="4050792"/>
            <a:ext cx="0" cy="512064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562856"/>
            <a:ext cx="228600" cy="0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425196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95144" y="4471416"/>
            <a:ext cx="182880" cy="18288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42519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Estantería de trastero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828800" y="4050792"/>
            <a:ext cx="0" cy="1335024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5385816"/>
            <a:ext cx="228600" cy="0"/>
          </a:xfrm>
          <a:prstGeom prst="line">
            <a:avLst/>
          </a:prstGeom>
          <a:noFill/>
          <a:ln w="15875">
            <a:solidFill>
              <a:srgbClr val="C3D2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5074920"/>
            <a:ext cx="3108960" cy="621792"/>
          </a:xfrm>
          <a:prstGeom prst="roundRect">
            <a:avLst>
              <a:gd name="adj" fmla="val 13235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95144" y="5294376"/>
            <a:ext cx="182880" cy="18288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5074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trabajo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035040" y="1783080"/>
            <a:ext cx="5608015" cy="4160520"/>
          </a:xfrm>
          <a:prstGeom prst="roundRect">
            <a:avLst>
              <a:gd name="adj" fmla="val 1978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2011680"/>
            <a:ext cx="4876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mínimos de una Location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46520" y="2450592"/>
            <a:ext cx="4785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nombre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padre (opcional, para la jerarquía)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volumen, peso máximo o nº de unidades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ambientales: temperatura, humedad, luz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y observaciones libres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160520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446520" y="4544568"/>
            <a:ext cx="47850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ubicación no puede ser su propia ancestra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informa capacidad, el sistema debería avisar al superarla (bloquear o no, por definir)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Location no es un recurso del hogar: es el contenedor físico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roles, dos alcances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estructurales pertenecen a usuarios del hogar con cuenta completa; los contextuales van ligados a un préstamo concreto y pueden recaer en personas externas.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2651760" cy="288036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128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12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 del hogar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34564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HOGAR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37490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assets, ubicaciones y usuarios; gestión de roles; activar y desactivar módulos.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938528"/>
            <a:ext cx="2651760" cy="288036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2128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212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21024" y="26517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Miembro del hogar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21024" y="34564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HOGAR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21024" y="37490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assets y ubicaciones; inicia y gestiona préstamos. Sin gestión de usuarios ni módulos.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1938528"/>
            <a:ext cx="2651760" cy="288036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2128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212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37376" y="26517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Prestador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37376" y="34564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PRÉSTAMO CONCRETO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37376" y="37490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estado del préstamo y confirma la entrega del asset.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97696" y="1938528"/>
            <a:ext cx="2651760" cy="288036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53728" y="22128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53728" y="2212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53728" y="265176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Receptor del préstamo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53728" y="34564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PRÉSTAMO CONCRETO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53728" y="37490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estado y la fecha prevista; confirma la devolución.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acotado por token (JWT con loanId y rol, sin sub de usuario) se aplica únicamente cuando la persona no tiene cuenta completa en el sistema.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concepto mínimo dentro del 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2926080" cy="868680"/>
          </a:xfrm>
          <a:prstGeom prst="roundRect">
            <a:avLst>
              <a:gd name="adj" fmla="val 9474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17720" y="1572768"/>
            <a:ext cx="2926080" cy="868680"/>
          </a:xfrm>
          <a:prstGeom prst="roundRect">
            <a:avLst>
              <a:gd name="adj" fmla="val 9474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572768"/>
            <a:ext cx="2926080" cy="868680"/>
          </a:xfrm>
          <a:prstGeom prst="roundRect">
            <a:avLst>
              <a:gd name="adj" fmla="val 9474"/>
            </a:avLst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86200" y="1874520"/>
            <a:ext cx="566928" cy="274320"/>
          </a:xfrm>
          <a:prstGeom prst="rightArrow">
            <a:avLst/>
          </a:prstGeom>
          <a:solidFill>
            <a:srgbClr val="AFC2BF"/>
          </a:solidFill>
          <a:ln w="6350">
            <a:solidFill>
              <a:srgbClr val="AFC2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diario ve la fecha superada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1874520"/>
            <a:ext cx="566928" cy="274320"/>
          </a:xfrm>
          <a:prstGeom prst="rightArrow">
            <a:avLst/>
          </a:prstGeom>
          <a:solidFill>
            <a:srgbClr val="AFC2BF"/>
          </a:solidFill>
          <a:ln w="6350">
            <a:solidFill>
              <a:srgbClr val="AFC2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confirmada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10515600" cy="384048"/>
          </a:xfrm>
          <a:prstGeom prst="roundRect">
            <a:avLst>
              <a:gd name="adj" fmla="val 21429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895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ACTIVE también se devuelve sin pasar por OVERDUE · el asset acompaña: LENT mientras el préstamo está abierto, AVAILABLE al devolverlo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84048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mínimos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429768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asset prestado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 y receptor: del hogar o personas externas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inicio, de devolución prevista y real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ACTIVE, RETURNED u OVERDUE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3584448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56832" y="384048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y alcance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02552" y="429768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préstamo abierto por asset: un OVERDUE sigue ocupándolo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prestan assets DURABLE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Ceder un consumible es un AdjustAssetQuantity, no un préstamo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préstamo crece, saldrá del core como módulo propio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FUTUROS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Trece módulos, activables por prioridad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es obligatorio: el core funciona con todos desactivados. Cada uno se activa cuando el hogar lo necesita.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" cy="1335024"/>
          </a:xfrm>
          <a:prstGeom prst="roundRect">
            <a:avLst>
              <a:gd name="adj" fmla="val 42857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188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404872"/>
            <a:ext cx="1188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1737360"/>
            <a:ext cx="2286686" cy="1335024"/>
          </a:xfrm>
          <a:prstGeom prst="roundRect">
            <a:avLst>
              <a:gd name="adj" fmla="val 6164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865376"/>
            <a:ext cx="1920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y contactos de servicio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40280" y="2304288"/>
            <a:ext cx="1920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arregla, quién cobra y quién responde de una garantía.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90390" y="1737360"/>
            <a:ext cx="2286686" cy="1335024"/>
          </a:xfrm>
          <a:prstGeom prst="roundRect">
            <a:avLst>
              <a:gd name="adj" fmla="val 6164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3270" y="1865376"/>
            <a:ext cx="1920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lista de la compra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73270" y="2304288"/>
            <a:ext cx="1920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falta, qué reponer y qué está pedido. Cierra el ciclo de Warehouse.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23380" y="1737360"/>
            <a:ext cx="2286686" cy="1335024"/>
          </a:xfrm>
          <a:prstGeom prst="roundRect">
            <a:avLst>
              <a:gd name="adj" fmla="val 6164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6260" y="1865376"/>
            <a:ext cx="1920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06260" y="2304288"/>
            <a:ext cx="1920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Despensa, garaje y trastero: stock, consumo, mínimos y caducidad.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56369" y="1737360"/>
            <a:ext cx="2286686" cy="1335024"/>
          </a:xfrm>
          <a:prstGeom prst="roundRect">
            <a:avLst>
              <a:gd name="adj" fmla="val 6164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9249" y="1865376"/>
            <a:ext cx="19209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 doméstico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39249" y="2304288"/>
            <a:ext cx="19209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preventivo y correctivo: planes, avisos e histórico.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18688"/>
            <a:ext cx="64008" cy="1115568"/>
          </a:xfrm>
          <a:prstGeom prst="roundRect">
            <a:avLst>
              <a:gd name="adj" fmla="val 42857"/>
            </a:avLst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MEDIA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11887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3218688"/>
            <a:ext cx="3097682" cy="1115568"/>
          </a:xfrm>
          <a:prstGeom prst="roundRect">
            <a:avLst>
              <a:gd name="adj" fmla="val 7377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346704"/>
            <a:ext cx="2731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Planificador de tareas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40280" y="3785616"/>
            <a:ext cx="2731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Rutinas, turnos entre miembros del hogar y recordatorios.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1386" y="3218688"/>
            <a:ext cx="3097682" cy="1115568"/>
          </a:xfrm>
          <a:prstGeom prst="roundRect">
            <a:avLst>
              <a:gd name="adj" fmla="val 7377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4266" y="3346704"/>
            <a:ext cx="2731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y presupuesto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4266" y="3785616"/>
            <a:ext cx="2731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lo que entra en casa, y el presupuesto por periodo.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45373" y="3218688"/>
            <a:ext cx="3097682" cy="1115568"/>
          </a:xfrm>
          <a:prstGeom prst="roundRect">
            <a:avLst>
              <a:gd name="adj" fmla="val 7377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28253" y="3346704"/>
            <a:ext cx="2731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eventos temporales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28253" y="3785616"/>
            <a:ext cx="2731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Mudanzas, reformas, viajes y celebraciones, con inicio y fin.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480560"/>
            <a:ext cx="64008" cy="786384"/>
          </a:xfrm>
          <a:prstGeom prst="roundRect">
            <a:avLst>
              <a:gd name="adj" fmla="val 42857"/>
            </a:avLst>
          </a:prstGeom>
          <a:solidFill>
            <a:srgbClr val="9BAFAC"/>
          </a:solidFill>
          <a:ln w="6350">
            <a:solidFill>
              <a:srgbClr val="9BA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48056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B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BAJA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" y="487375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57400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85416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avanzados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79393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7409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y menú semanal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1386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9402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uso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23380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1396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vida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45373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73389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y seguros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167366" y="4480560"/>
            <a:ext cx="147568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95382" y="4480560"/>
            <a:ext cx="121965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 y plantas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no está cerrada, pero ya no hay cajón de sastre: un candidato entra con estado y prioridad propios, o no entra.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componentes, un monolito modular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1B4B48"/>
          </a:solidFill>
          <a:ln w="12700">
            <a:solidFill>
              <a:srgbClr val="2F63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· TypeScript + React · mobile-first, de 375 px a ultrawide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2212848"/>
            <a:ext cx="301752" cy="384048"/>
          </a:xfrm>
          <a:prstGeom prst="down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240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REST + JWT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autenticada · Spring Security + JWT · único canal backend ↔ frontend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2622728" cy="914400"/>
          </a:xfrm>
          <a:prstGeom prst="roundRect">
            <a:avLst>
              <a:gd name="adj" fmla="val 9000"/>
            </a:avLst>
          </a:prstGeom>
          <a:solidFill>
            <a:srgbClr val="1C4644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730752"/>
            <a:ext cx="240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4096512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/ Assets · obligatorio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60004" y="4498848"/>
            <a:ext cx="0" cy="182880"/>
          </a:xfrm>
          <a:prstGeom prst="line">
            <a:avLst/>
          </a:prstGeom>
          <a:noFill/>
          <a:ln w="15875">
            <a:solidFill>
              <a:srgbClr val="3C66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2536" y="3584448"/>
            <a:ext cx="2622728" cy="914400"/>
          </a:xfrm>
          <a:prstGeom prst="roundRect">
            <a:avLst>
              <a:gd name="adj" fmla="val 9000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2264" y="3730752"/>
            <a:ext cx="240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82264" y="4096512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 · opcionales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3900" y="4498848"/>
            <a:ext cx="0" cy="182880"/>
          </a:xfrm>
          <a:prstGeom prst="line">
            <a:avLst/>
          </a:prstGeom>
          <a:noFill/>
          <a:ln w="15875">
            <a:solidFill>
              <a:srgbClr val="3C666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96432" y="3584448"/>
            <a:ext cx="2622728" cy="914400"/>
          </a:xfrm>
          <a:prstGeom prst="roundRect">
            <a:avLst>
              <a:gd name="adj" fmla="val 9000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6160" y="3730752"/>
            <a:ext cx="240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media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6160" y="4096512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 · opcionales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07796" y="4498848"/>
            <a:ext cx="0" cy="182880"/>
          </a:xfrm>
          <a:prstGeom prst="line">
            <a:avLst/>
          </a:prstGeom>
          <a:noFill/>
          <a:ln w="15875">
            <a:solidFill>
              <a:srgbClr val="3C666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020327" y="3584448"/>
            <a:ext cx="2622728" cy="914400"/>
          </a:xfrm>
          <a:prstGeom prst="roundRect">
            <a:avLst>
              <a:gd name="adj" fmla="val 9000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30055" y="3730752"/>
            <a:ext cx="240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baja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30055" y="4096512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· opcionales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31691" y="4498848"/>
            <a:ext cx="0" cy="182880"/>
          </a:xfrm>
          <a:prstGeom prst="line">
            <a:avLst/>
          </a:prstGeom>
          <a:noFill/>
          <a:ln w="15875">
            <a:solidFill>
              <a:srgbClr val="3C6663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4681728"/>
            <a:ext cx="11094415" cy="603504"/>
          </a:xfrm>
          <a:prstGeom prst="roundRect">
            <a:avLst>
              <a:gd name="adj" fmla="val 13636"/>
            </a:avLst>
          </a:prstGeom>
          <a:solidFill>
            <a:srgbClr val="1B4B48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8172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interno (in-process) · publicación y suscripción entre módulos, sin que el core sepa quién escucha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3400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E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agrupamiento es la prioridad de la sección 4.2, no una dependencia: dentro de un grupo los módulos no se necesitan entre sí.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23360" y="5650992"/>
            <a:ext cx="4142232" cy="530352"/>
          </a:xfrm>
          <a:prstGeom prst="roundRect">
            <a:avLst>
              <a:gd name="adj" fmla="val 15517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5650992"/>
            <a:ext cx="4142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16+ · RLS activado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INTERNO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contrato y trece eventos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206240" cy="2834640"/>
          </a:xfrm>
          <a:prstGeom prst="roundRect">
            <a:avLst>
              <a:gd name="adj" fmla="val 29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91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DomainEvent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eventId      UUID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      String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occurredAt   Instant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aggregateId  String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     Int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4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     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4206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2744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In-process: monolito modular, pub/sub en memoria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at-least-once: handlers idempotentes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fallo del módulo no afecta a la transacción del core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candidata: Transactional Outbox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74920" y="1481328"/>
            <a:ext cx="6568135" cy="4553712"/>
          </a:xfrm>
          <a:prstGeom prst="roundRect">
            <a:avLst>
              <a:gd name="adj" fmla="val 1807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691640"/>
            <a:ext cx="5928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inicial de eventos del core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22392" y="2221992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0136" y="2139696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HouseholdCreated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36408" y="2139696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 hogar queda verificado y utilizable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22392" y="2505456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242316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ArticleCreated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36408" y="2423160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crea un artículo en el catálogo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2392" y="2788920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2706624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AssetCreated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36408" y="2706624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da de alta un asset o la primera existencia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22392" y="3072384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0136" y="2990088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AssetMoved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36408" y="2990088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cambia la ubicación de un asset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2392" y="3355848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0136" y="3273552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AssetHierarchyChanged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36408" y="3273552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cambia el asset padre o la composición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22392" y="3639312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0136" y="3557016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AssetQuantityChanged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36408" y="3557016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cambia la cantidad de un CONSUMABLE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22392" y="3922776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0136" y="384048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AssetDeactivated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36408" y="3840480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da de baja un asset o se fusiona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22392" y="4206240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0136" y="4123944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LocationCreated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36408" y="4123944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crea una ubicación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22392" y="4489704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0136" y="4407408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DocumentAttached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36408" y="4407408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adjunta un documento a un asset o artículo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22392" y="4773168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0136" y="4690872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UserDeactivated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36408" y="4690872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alguien deja el hogar, no su cuenta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22392" y="5056632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0136" y="4974336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LoanStarted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836408" y="4974336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inicia un préstamo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22392" y="5340096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0136" y="525780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LoanOverdue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36408" y="5257800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 proceso diario ve la fecha superada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22392" y="5623560"/>
            <a:ext cx="118872" cy="118872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0136" y="5541264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LoanReturned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836408" y="5541264"/>
            <a:ext cx="344088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 confirma la devolución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Aislamiento multi-tenant en dos capas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hogares comparten la misma base de datos. El aislamiento se defiende dos veces, de forma independiente.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29968"/>
            <a:ext cx="512064" cy="512064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048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265176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caso de uso y todo repositorio filtra por el householdId del token. Nunca se confía en un householdId recibido del cliente.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11112" y="2029968"/>
            <a:ext cx="512064" cy="512064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78624" y="2048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· RLS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38544" y="265176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tabla con household_id tiene Row-Level Security y una política que limita las filas al hogar de la sesión. Si un repositorio olvida el filtro, PostgreSQL sigue sin devolver filas ajenas.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6903720" cy="1481328"/>
          </a:xfrm>
          <a:prstGeom prst="roundRect">
            <a:avLst>
              <a:gd name="adj" fmla="val 5556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4164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assets ENABLE ROW LEVEL SECURITY;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assets FORCE ROW LEVEL SECURITY;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assets_household_isolation ON assets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(household_id = current_setting('app.household_id')::uuid);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80960" y="3886200"/>
            <a:ext cx="3959352" cy="1481328"/>
          </a:xfrm>
          <a:prstGeom prst="roundRect">
            <a:avLst>
              <a:gd name="adj" fmla="val 5556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40233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condiciones fáciles de pasar por alto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73568" y="4352544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de BD de la aplicación no puede ser superusuario ni tener BYPASSRLS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falta FORCE ROW LEVEL SECURITY para que la política se aplique al propietario de la tabla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55955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fija SET LOCAL app.household_id al abrir cada transacción; las políticas se versionan como migraciones Flyway, igual que el esquema (ADR-003 y ADR-004).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casos de uso del 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824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· 30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011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valida sus reglas y, cuando corresponde, publica su evento en el bus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96112" y="2331720"/>
            <a:ext cx="3090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780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ASSETS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28416" y="2441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77063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CreateArticle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RegisterConsumableIntake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MergeStockItems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3090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24780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HOGAR, IDENTIDAD Y ACCESO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38544" y="2441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07408" y="277063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CreateHousehold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VerifyEmail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InviteUser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" y="3794760"/>
            <a:ext cx="3090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94106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Y FICHEROS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28416" y="39044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23367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AttachDocument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UploadFile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SetIdentityAvatar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3794760"/>
            <a:ext cx="3090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394106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38544" y="39044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07408" y="423367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StartLoan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ConfirmReturn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F7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GenerateExternalAccessToken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" y="5285232"/>
            <a:ext cx="6254496" cy="457200"/>
          </a:xfrm>
          <a:prstGeom prst="roundRect">
            <a:avLst>
              <a:gd name="adj" fmla="val 18000"/>
            </a:avLst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285232"/>
            <a:ext cx="6254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sistema · 3 — PurgeUnverifiedHouseholds · PurgeUnusedFiles · MarkOverdueLoans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1481328"/>
            <a:ext cx="3870655" cy="4343400"/>
          </a:xfrm>
          <a:prstGeom prst="roundRect">
            <a:avLst>
              <a:gd name="adj" fmla="val 212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19872" y="1682496"/>
            <a:ext cx="3175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· 12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19872" y="2011680"/>
            <a:ext cx="31757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catálogo, los assets y el hogar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56448" y="2377440"/>
            <a:ext cx="310255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ListArticles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ListAssets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GetAsset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ListCategories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ListLocations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ListUsers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ListInvitations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GetLoan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ListDocuments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ListFiles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DownloadFile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123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GetStorageUsage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56448" y="4800600"/>
            <a:ext cx="3102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consulta queda acotada al householdId del token. Los listados excluyen por defecto los assets dados de baja y los artículos retirados.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ya cerradas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 + Spring Boot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26791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modular, Clean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1024" y="18379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21024" y="2103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16+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21024" y="26791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como segunda capa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18379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37376" y="2103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Flyway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37376" y="26791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plano versionado, esquema y políticas juntos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53728" y="183794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BE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53728" y="2103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bus in-process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253728" y="267919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propio sobre Spring, sin dependencia añadida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38496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FE ↔ BE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411480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+ JWT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469087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Security; tokens acotados de préstamo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36118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21024" y="38496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21024" y="411480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 3.0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621024" y="469087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openapi.yaml es la fuente de verdad de la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36118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37376" y="38496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37376" y="411480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sobre Vite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437376" y="469087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de 375 px a ultrawide; WCAG 2.2 AA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97696" y="36118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53728" y="38496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53728" y="411480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5 + Testcontainers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253728" y="469087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y Playwright en el frontend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4516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ADR recogen el porqué y las alternativas descartadas: monolito modular · Spring Boot · Row-Level Security · Flyway · ficheros en disco · React + Vite · contrato como fuente de verdad · monorepo · correo saliente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testing, igual en BE y FE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4846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737360"/>
            <a:ext cx="5836615" cy="1280160"/>
          </a:xfrm>
          <a:prstGeom prst="roundRect">
            <a:avLst>
              <a:gd name="adj" fmla="val 642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086600" y="193852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Unitarios de dominio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86600" y="2340864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reglas puras, sin dependencias externas. Ej.: un Asset no puede ser su propio ancestro.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06440" y="3273552"/>
            <a:ext cx="5836615" cy="1280160"/>
          </a:xfrm>
          <a:prstGeom prst="roundRect">
            <a:avLst>
              <a:gd name="adj" fmla="val 642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3456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086600" y="3474720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casos de uso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3877056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completa con dependencias reales o en memoria. Ej.: CreateAsset persiste y publica AssetCreated.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4809744"/>
            <a:ext cx="5836615" cy="1280160"/>
          </a:xfrm>
          <a:prstGeom prst="roundRect">
            <a:avLst>
              <a:gd name="adj" fmla="val 642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49926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46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086600" y="5010912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adaptadores y E2E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5413248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adaptador cumple el contrato externo. Ej.: POST /assets/intake responde 201 y luego 200 acumulando.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por fases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12064" cy="512064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38328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stack, alcance del core y estrategia de 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4389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4992" y="169164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1965960"/>
            <a:ext cx="512064" cy="512064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79392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21024" y="26060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MVP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21024" y="338328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autenticación, API REST, event bus y cliente web completo del 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21024" y="4389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169164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1965960"/>
            <a:ext cx="512064" cy="512064"/>
          </a:xfrm>
          <a:prstGeom prst="ellipse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95744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37376" y="26060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módulo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37376" y="338328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 definir entre los cuatro de prioridad alta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37376" y="4389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 w="6350">
            <a:solidFill>
              <a:srgbClr val="D3DF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97696" y="169164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53728" y="1965960"/>
            <a:ext cx="512064" cy="512064"/>
          </a:xfrm>
          <a:prstGeom prst="ellipse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537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12096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53728" y="260604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adicionales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53728" y="3383280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nueve restantes, por orden de prioridad (sección 4.2)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53728" y="43891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 w="6350">
            <a:solidFill>
              <a:srgbClr val="D3DF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43891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1663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validación de la Fase 1 (ADR-001): un recorrido vertical que atraviese frontend, API autenticada, aplicación, dominio y PostgreSQL, con pruebas en los tres niveles.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Fase 1 está en marcha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definición cerrada y el andamiaje en pie, lo que queda es construir: el core completo, entregado en hitos que atraviesan las capas en vertical.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VERTICAL QUE VALIDA LA FASE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1B4B48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42032" y="2825496"/>
            <a:ext cx="237744" cy="237744"/>
          </a:xfrm>
          <a:prstGeom prst="right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25496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2E7B7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5496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autenticada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18888" y="2825496"/>
            <a:ext cx="237744" cy="237744"/>
          </a:xfrm>
          <a:prstGeom prst="right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02352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2E7B7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95744" y="2825496"/>
            <a:ext cx="237744" cy="237744"/>
          </a:xfrm>
          <a:prstGeom prst="right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9208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2E7B7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72600" y="2825496"/>
            <a:ext cx="237744" cy="237744"/>
          </a:xfrm>
          <a:prstGeom prst="rightArrow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2560320"/>
            <a:ext cx="1947672" cy="777240"/>
          </a:xfrm>
          <a:prstGeom prst="roundRect">
            <a:avLst>
              <a:gd name="adj" fmla="val 10588"/>
            </a:avLst>
          </a:prstGeom>
          <a:solidFill>
            <a:srgbClr val="1B4B48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56064" y="256032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160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0, ya cerrado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6112" y="4572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integración continua, contrato saneado y el reparto del README a docs/, que la Fase 0 había aplazado a propósito.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91072" y="3931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4160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con prioridad alta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38544" y="4572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Cuatro, todos por diseñar: proveedores y contactos de servicio, compras y lista de la compra, Warehouse y mantenimiento (CMMS).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README.md · documento vivo, última actualización 2026-08-10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DRP · Domestic Resource Planning — resumen del README</dc:title>
  <dc:subject>PptxGenJS Presentation</dc:subject>
  <dc:creator>DRP</dc:creator>
  <cp:lastModifiedBy>DRP</cp:lastModifiedBy>
  <cp:revision>1</cp:revision>
  <dcterms:created xsi:type="dcterms:W3CDTF">2026-08-10T20:16:04Z</dcterms:created>
  <dcterms:modified xsi:type="dcterms:W3CDTF">2026-08-10T20:16:04Z</dcterms:modified>
</cp:coreProperties>
</file>