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1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312F"/>
                </a:solidFill>
                <a:latin typeface="Calibri"/>
              </a:rPr>
              <a:t>Distribución de la batería de tests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B72"/>
              </a:solidFill>
              <a:effectLst/>
            </c:spPr>
          </c:dPt>
          <c:dPt>
            <c:idx val="1"/>
            <c:bubble3D val="0"/>
            <c:spPr>
              <a:solidFill>
                <a:srgbClr val="C25A32"/>
              </a:solidFill>
              <a:effectLst/>
            </c:spPr>
          </c:dPt>
          <c:dPt>
            <c:idx val="2"/>
            <c:bubble3D val="0"/>
            <c:spPr>
              <a:solidFill>
                <a:srgbClr val="1C46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Unitarios de dominio</c:v>
                </c:pt>
                <c:pt idx="1">
                  <c:v>Integración de casos de uso</c:v>
                </c:pt>
                <c:pt idx="2">
                  <c:v>Contrato de adaptadores / E2E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Resumen del README.md de DRP (estado 2026-08-07): Fase 0 completada, sin decisiones de diseño abiertas.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y §2: resumen ejecutivo y objetivo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§3: analogía ERP → DRP.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§4.1: core mínimo obligatorio.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naturaleza DURADERO / CONSUMIBLE y alcance deliberado del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artículo y existencia; RegistrarEntradaConsumible y FusionarExistencias.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 y §4.1.7: reglas mínimas de negocio y decisiones validadas.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§4.1.2: ubicaciones, jerarquía y atributos.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§4.1.4 y §5.4.1: roles y tokens acotados.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§4.1.5: préstamos, máquina de estados y alcance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§4.2: módulos futuros activables, cada uno con estado y prioridad. Trece filas, sin fila de backlog.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§5.1: visión de componentes. Los módulos punteados son opcionales y van agrupados por prioridad, como en el diagrama del README; el detalle de los trece está en la diapositiva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§5.2: contrato de evento, mecanismo interno y catálogo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§5.6: modelo de datos multi-tenant y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§5.7: catálogo de comandos y queries de la capa de aplicación.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y ADR-001 a ADR-004.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§7: distribución 60/25/15 y ejemplos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§8: roadmap y estado. Fase 0 cerrada el 2026-08-07.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§8, §9 y §11: cierre de la Fase 0 y arranque de la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7614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hogar: un core mínimo que resuelve lo esencial y módulos que se activan cuando aparece la necesidad.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526280"/>
            <a:ext cx="1732788" cy="384048"/>
          </a:xfrm>
          <a:prstGeom prst="roundRect">
            <a:avLst>
              <a:gd name="adj" fmla="val 47619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526280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completada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66060" y="4526280"/>
            <a:ext cx="1732788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060" y="4526280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Core MVP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4526280"/>
            <a:ext cx="1124712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452628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2026-08-10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README.md — documento de diseño del 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4526280" cy="4343400"/>
          </a:xfrm>
          <a:prstGeom prst="roundRect">
            <a:avLst>
              <a:gd name="adj" fmla="val 2105"/>
            </a:avLst>
          </a:prstGeom>
          <a:solidFill>
            <a:srgbClr val="7FC8BE">
              <a:alpha val="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2904" y="132588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Vivienda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794760" cy="3291840"/>
          </a:xfrm>
          <a:prstGeom prst="roundRect">
            <a:avLst>
              <a:gd name="adj" fmla="val 2778"/>
            </a:avLst>
          </a:prstGeom>
          <a:solidFill>
            <a:srgbClr val="7FC8BE">
              <a:alpha val="14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92024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Planta baja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2395728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C25A32">
              <a:alpha val="2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4424" y="2487168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Trastero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2962656"/>
            <a:ext cx="2331720" cy="1133856"/>
          </a:xfrm>
          <a:prstGeom prst="roundRect">
            <a:avLst>
              <a:gd name="adj" fmla="val 8065"/>
            </a:avLst>
          </a:prstGeom>
          <a:solidFill>
            <a:srgbClr val="C25A32">
              <a:alpha val="3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0184" y="3054096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Estantería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57150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ubicación es polimórfica: un asset puede estar en una ubicación o dentro de otro asset.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del hogar vive dispersa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carpetas de papeles, recordatorios sueltos del móvil y la memoria de quien gestiona la casa. No hay punto único de verdad, y mucho menos algo que crezca con las necesidades de cada hogar.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50592"/>
            <a:ext cx="548640" cy="54864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27632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DRP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1072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450592"/>
            <a:ext cx="548640" cy="5486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70064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DRP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702552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assets dados de alta, con su documentación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propietario y estado en un único sitio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 el módulo CMMS, los planes de revisión se generan solos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aplicar al hogar la disciplina de gestión de un ERP, sin obligar a implementar de golpe lo que ese hogar concreto no necesita.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ERP empresarial al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EMPRESARIAL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3912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HOGAR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27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 (maquinaria, líneas)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77393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912" y="162763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62763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24942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49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preventivo/correctivo (CMMS)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39572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53912" y="224942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224942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caldera, ITV, cambio de filtros, garantías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71216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2871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almacén / inventario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532120" y="3017520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912" y="2871216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871216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49300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aprovisionamiento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532120" y="3639312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53912" y="3493008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493008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compra, reposición de lo que se agota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411480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de proveedores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532120" y="426110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4114800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9944" y="41148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Fontanero, servicio técnico de la caldera, taller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73659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3659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producción / tareas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532120" y="488289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53912" y="473659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9944" y="473659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domésticas, turnos, rutinas familiares, menú semanal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35838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535838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/ eventos puntuales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532120" y="550468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53912" y="535838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9944" y="535838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mínimo, obligatorio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 que todo hogar necesita antes de activar ningún módulo.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del hogar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aislamiento multi-tenant: agrupa usuarios, assets, ubicaciones y préstamos de una misma vivienda.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7608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y assets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baja, modificación, categorización, ubicación jerárquica, propietario y documentación asociada.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7084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Ubicaciones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jerárquica de espacios físicos, con capacidad y condiciones de almacenaje.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8132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roles, incluidos accesos acotados para los préstamos entre personas.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7608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interno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entre módulos: el core funciona igual esté activo el módulo o no.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07084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autenticada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5820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canal de comunicación entre el backend y el frontend.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asset es todo el material del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caldera hasta un paquete de harina. Restringir el concepto a los bienes «importantes» dejaría fuera la mayor parte de lo que un hogar realmente gestiona. Pero no todo se comporta igual: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DURADERO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propia; se usa de forma repetida sin agotarse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unidad física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Caldera, taladro, sofá, coche, cuadro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que puede ubicar a otros assets y único que se presta.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91072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56832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56832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agota o se repone; las unidades son intercambiables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56832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56832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existencia —un artículo en una ubicación—, con cantidad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56832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56832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Harina, detergente, pilas, bombillas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56832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está PRESTADO; llegar a cantidad 0 no lo da de baja.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se fija en el alta y no es modificable: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naturaleza de un asset equivale a darlo de baja y crear otro. El core solo mantiene un contador — consumos, mínimos, caducidad y lotes son del módulo Warehouse.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EXISTENCIAS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existencia van separadas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no es un asset: no ocupa sitio, no tiene cantidad y no se presta. Es obligatorio en un CONSUMIBLE y opcional en un DURADERO, donde permite compartir modelo y documentación entre unidades idénticas.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3840480" cy="2377440"/>
          </a:xfrm>
          <a:prstGeom prst="roundRect">
            <a:avLst>
              <a:gd name="adj" fmla="val 3462"/>
            </a:avLst>
          </a:prstGeom>
          <a:solidFill>
            <a:srgbClr val="EFF4F2"/>
          </a:solidFill>
          <a:ln w="15875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57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Articulo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054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catalog_items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62072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Azúcar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· ALIMENTACION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· GRAMO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codigoBarras (opcionales)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862072"/>
            <a:ext cx="566928" cy="292608"/>
          </a:xfrm>
          <a:prstGeom prst="rightArrow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2004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8523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7784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CONSUMIBLE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Despensa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7784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57784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2279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CONSUMIBLE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1540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Trastero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91540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la fija el artículo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sus existencias van en la misma unidad; convertir es cosa de Warehouse.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existencia viva por artículo y ubicación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9943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parcial con NULLS NOT DISTINCT que excluye estado = BAJA.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suma; el PATCH sustituye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9419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RegistrarEntradaConsumible acumula; la cantidad del PATCH es absoluta.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MÍNIMAS DE 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core no deja hacer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ciclos en la jerarquía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08176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asset ni ubicación puede ser su propio ancestro.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1072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47088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5060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ubicación, nunca 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150608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un Asset o una Location, jamás las dos a la vez.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20040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08176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es siempre lógica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08176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= BAJA; nada se borra. No se da de baja con hijos o préstamo activo.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91072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00400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0608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DURADERO ubica y se presta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50608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estantería contiene cosas; un paquete de harina, no.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553712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08176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cero no da de baja nada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08176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consumible agotado sigue existiendo, pendiente de reposición.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072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553712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50608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artículo se retira, no se borra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50608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retired_at cuando no le queda existencia viva: las bajas siguen apuntando a él.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Juntar dos existencias del mismo artículo creadas por separado es FusionarExistencias, no un MoverAsset: la fusión decide qué ubicación y qué propietario sobreviven, y eso lo elige el usuario.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Jerarquía y ubicación polimórfica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83080" y="1335024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3911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00253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830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240487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60604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282549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baja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25880" y="322783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5880" y="373989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342900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92224" y="364845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34290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828800" y="405079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456285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425196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95144" y="447141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42519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 de trastero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828800" y="4050792"/>
            <a:ext cx="0" cy="133502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538581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507492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95144" y="529437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74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035040" y="1783080"/>
            <a:ext cx="5608015" cy="4160520"/>
          </a:xfrm>
          <a:prstGeom prst="roundRect">
            <a:avLst>
              <a:gd name="adj" fmla="val 197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011680"/>
            <a:ext cx="4876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 de una Location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46520" y="2450592"/>
            <a:ext cx="4785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nombre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padre (opcional, para la jerarquía)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volumen, peso máximo o nº de unidades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ambientales: temperatura, humedad, luz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observaciones libres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160520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446520" y="4544568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 no puede ser su propia ancestra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informa capacidad, el sistema debería avisar al superarla (bloquear o no, por definir)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Location no es un recurso del hogar: es el contenedor físico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roles, dos alcances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estructurales pertenecen a usuarios del hogar con cuenta completa; los contextuales van ligados a un préstamo concreto y pueden recaer en personas externas.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 del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assets, ubicaciones y usuarios; gestión de roles; activar y desactivar módulos.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21024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 del hogar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21024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21024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assets y ubicaciones; inicia y gestiona préstamos. Sin gestión de usuarios ni módulos.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37376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Prestador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37376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del préstamo y confirma la entrega del asset.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7696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3728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53728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 del préstamo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53728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53728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y la fecha prevista; confirma la devolución.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acotado por token (JWT con loanId y rol, sin sub de usuario) se aplica únicamente cuando la persona no tiene cuenta completa en el sistema.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concepto mínimo dentro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VENCIDO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5054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inicia un préstamo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25054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la fecha prevista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10515600" cy="384048"/>
          </a:xfrm>
          <a:prstGeom prst="leftArrow">
            <a:avLst/>
          </a:prstGeom>
          <a:solidFill>
            <a:srgbClr val="E3EDEA"/>
          </a:solidFill>
          <a:ln w="9525">
            <a:solidFill>
              <a:srgbClr val="C3D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288950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confirmada — desde PRESTADO o desde VENCIDO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asset prestado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y receptor: del hogar o personas externas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inicio, de devolución prevista y real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ACTIVO, DEVUELTO o VENCIDO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56832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y alcance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702552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préstamo ACTIVO por asset (índice único parcial)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prestan assets DURADERO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un consumible es un AjustarCantidadAsset, no un préstamo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préstamo crece, saldrá del core como módulo propio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FUTUROS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 módulos, activables por prioridad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obligatorio: el core funciona con todos desactivados. Cada uno se activa cuando el hogar lo necesita.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" cy="1335024"/>
          </a:xfrm>
          <a:prstGeom prst="roundRect">
            <a:avLst>
              <a:gd name="adj" fmla="val 42857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404872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5740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y contactos de servicio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4028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arregla, quién cobra y quién responde de una garantía.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9039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327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lista de la compra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7327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falta, qué reponer y qué está pedido. Cierra el ciclo de Warehouse.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2338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0626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0626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 y trastero: stock, consumo, mínimos y caducidad.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6369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9249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CMMS doméstico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539249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 y correctivo: planes, avisos e histórico.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18688"/>
            <a:ext cx="64008" cy="1115568"/>
          </a:xfrm>
          <a:prstGeom prst="roundRect">
            <a:avLst>
              <a:gd name="adj" fmla="val 42857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1520" y="3776472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057400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80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 de tareas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240280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Rutinas, turnos entre miembros del hogar y recordatorios.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01386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4266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y presupuesto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4266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lo que entra en casa, y el presupuesto por periodo.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45373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8253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eventos temporales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728253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viajes y celebraciones, con inicio y fin.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80560"/>
            <a:ext cx="64008" cy="786384"/>
          </a:xfrm>
          <a:prstGeom prst="roundRect">
            <a:avLst>
              <a:gd name="adj" fmla="val 42857"/>
            </a:avLst>
          </a:prstGeom>
          <a:solidFill>
            <a:srgbClr val="9BAFAC"/>
          </a:solidFill>
          <a:ln w="6350">
            <a:solidFill>
              <a:srgbClr val="9BA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80560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B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" y="487375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05740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8541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avanzados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7939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0740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menú semanal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138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2940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 uso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2338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5139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4537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7338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y seguros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16736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9538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Mascotas y plantas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no está cerrada, pero ya no hay cajón de sastre: un candidato entra con estado y prioridad propios, o no entra.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componentes, un monolito modular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1B4B48"/>
          </a:solidFill>
          <a:ln w="12700">
            <a:solidFill>
              <a:srgbClr val="2F63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· TypeScript + React · mobile-first, de 375 px a ultrawide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0" y="2212848"/>
            <a:ext cx="301752" cy="384048"/>
          </a:xfrm>
          <a:prstGeom prst="down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240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REST + JWT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autenticada · Spring Security + JWT · único canal backend ↔ frontend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/ Assets · obligatorio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60004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2536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2264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82264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 · opcionales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83900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196432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6160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6160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 · opcionales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07796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9020327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30055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30055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 · opcionales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31691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3636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68172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 (in-process) · publicación y suscripción entre módulos, sin que el core sepa quién escucha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3400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agrupamiento es la prioridad de la sección 4.2, no una dependencia: dentro de un grupo los módulos no se necesitan entre sí.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023360" y="5650992"/>
            <a:ext cx="4142232" cy="530352"/>
          </a:xfrm>
          <a:prstGeom prst="roundRect">
            <a:avLst>
              <a:gd name="adj" fmla="val 15517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5650992"/>
            <a:ext cx="4142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16+ · RLS activado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y nueve eventos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06240" cy="2834640"/>
          </a:xfrm>
          <a:prstGeom prst="roundRect">
            <a:avLst>
              <a:gd name="adj" fmla="val 29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DomainEvent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     UUID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      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occurredAt   Instant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aggregateId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     Int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     JSON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27448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In-process: monolito modular, pub/sub en memoria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at-least-once: handlers idempotentes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del módulo no afecta a la transacción del core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candidata: Transactional Outbox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6568135" cy="4553712"/>
          </a:xfrm>
          <a:prstGeom prst="roundRect">
            <a:avLst>
              <a:gd name="adj" fmla="val 1807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91640"/>
            <a:ext cx="5928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inicial de eventos del core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22392" y="229514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78424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CatalogItemCreated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92440" y="217627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 artículo en el catálogo del hogar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22392" y="270662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78424" y="2587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92440" y="258775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alta un asset o la primera existencia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22392" y="311810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78424" y="2999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92440" y="299923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ubicación de un asset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22392" y="352958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78424" y="34107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AssetHierarchyChanged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92440" y="34107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el asset padre o la composición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22392" y="394106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78424" y="3822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92440" y="382219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cantidad de un CONSUMIBLE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22392" y="435254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8424" y="42336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092440" y="423367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baja un asset o se fusiona una existencia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22392" y="476402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78424" y="4645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92440" y="464515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una ubicación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22392" y="517550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8424" y="5056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092440" y="505663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inicia un préstamo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22392" y="558698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78424" y="5468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092440" y="54681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confirma la devolución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 multi-tenant en dos capas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la misma base de datos. El aislamiento se defiende dos veces, de forma independiente.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9968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36192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caso de uso y todo repositorio filtra por el householdId del token. Nunca se confía en un householdId recibido del cliente.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029968"/>
            <a:ext cx="512064" cy="512064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78624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 · RLS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tabla con household_id tiene Row-Level Security y una política que limita las filas al hogar de la sesión. Si un repositorio olvida el filtro, PostgreSQL sigue sin devolver filas ajenas.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4164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ENABLE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FORCE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POLICY assets_household_isolation ON assets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(household_id = current_setting('app.household_id')::uuid);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886200"/>
            <a:ext cx="3959352" cy="1481328"/>
          </a:xfrm>
          <a:prstGeom prst="roundRect">
            <a:avLst>
              <a:gd name="adj" fmla="val 555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402336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condiciones fáciles de pasar por alto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73568" y="4352544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de BD de la aplicación no puede ser superusuario ni tener BYPASSRLS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falta FORCE ROW LEVEL SECURITY para que la política se aplique al propietario de la tabla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595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fija SET LOCAL app.household_id al abrir cada transacción; las políticas se versionan como migraciones Flyway, igual que el esquema (ADR-003 y ADR-004).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APLICACIÓN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casos de uso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49440" cy="4343400"/>
          </a:xfrm>
          <a:prstGeom prst="roundRect">
            <a:avLst>
              <a:gd name="adj" fmla="val 189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6824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 · 14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011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valida sus reglas y, cuando corresponde, publica su evento en el bus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96112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CrearArticulo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569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CatalogItemCreated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CrearAsset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9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6112" y="2962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2816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RegistrarEntradaConsumible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 / QuantityChanged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06240" y="2962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2816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MoverAsset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25696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 / HierarchyChanged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96112" y="34198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3273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FusionarExistencias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15568" y="34838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QuantityChanged + Deactivated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06240" y="34198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25696" y="3273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AjustarCantidadAsset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25696" y="34838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6112" y="38770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DarDeBajaAsset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3941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06240" y="38770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RetirarArticulo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25696" y="3941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96112" y="43342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15568" y="4187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CrearLocation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15568" y="4398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06240" y="43342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25696" y="4187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CrearUsuario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25696" y="4398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96112" y="4791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15568" y="4645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ModificarRolUsuario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15568" y="4855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06240" y="4791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25696" y="4645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IniciarPrestamo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425696" y="4855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96112" y="5248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5568" y="5102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ConfirmarDevolucion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15568" y="5312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06240" y="5248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25696" y="5102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GenerarTokenAccesoExterno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425696" y="5312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772400" y="1481328"/>
            <a:ext cx="3870655" cy="4343400"/>
          </a:xfrm>
          <a:prstGeom prst="roundRect">
            <a:avLst>
              <a:gd name="adj" fmla="val 212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119872" y="1682496"/>
            <a:ext cx="31757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· 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119872" y="2011680"/>
            <a:ext cx="3175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catálogo, los assets y el hogar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156448" y="2395728"/>
            <a:ext cx="3102559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ListarArticulos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ListarAssets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ObtenerAsset / ListarHijosDeAsset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ListarLocations / ObtenerLocation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ListarUsuarios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ObtenerPrestamo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156448" y="4526280"/>
            <a:ext cx="310255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consulta queda acotada al householdId del token. Los listados excluyen por defecto los assets dados de baja y los artículos retirados.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ya cerradas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Kotlin + Spring Boot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modular, Clean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21024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16+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621024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como segunda capa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37376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Flyway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37376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plano versionado, esquema y políticas juntos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53728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in-process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253728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definido; librería por definir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FE ↔ BE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+ JWT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04672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Security; tokens acotados de préstamo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4992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21024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21024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3.0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621024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 + ejemplos en el README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1344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37376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37376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 + React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437376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de 375 px a ultrawide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97696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53728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definir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9253728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Kotest/JUnit5 + Testcontainers, Vitest/Jest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ADR recogen el porqué y las alternativas descartadas: monolito modular · Kotlin + Spring Boot · Row-Level Security · Flyway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testing, igual en BE y FE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8463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86600" y="193852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Unitarios de dominio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340864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 puras, sin dependencias externas. Ej.: un Asset no puede ser su propio ancestro.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273552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3456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casos de 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877056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completa con dependencias reales o en memoria. Ej.: CrearAsset persiste y publica AssetCreated.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809744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0760" y="49926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86600" y="50109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adaptadores y E2E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5413248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adaptador cumple el contrato externo. Ej.: POST /assets/intake responde 201 y luego 200 acumulando.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por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stack, alcance del core y estrategia de testing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965960"/>
            <a:ext cx="512064" cy="512064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1024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9392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21024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MVP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21024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autenticación, API REST, event bus y FE responsive básico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37376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95744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7376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módulo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7376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 definir entre los cuatro de prioridad alta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37376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97696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53728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3728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912096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53728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adicionales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53728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restantes, por orden de prioridad (sección 4.2)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53728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166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validación de la Fase 1 (ADR-001): un recorrido vertical que atraviese frontend, API autenticada, aplicación, dominio y PostgreSQL, con pruebas en los tres niveles.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Fase 0 queda cerrada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decisiones de diseño abiertas: modelo de datos, casos de uso, autenticación y contratos de API están definidos.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VERTICAL QUE VALIDA LA FASE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25496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25496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autenticada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18888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2352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95744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72600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56064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56064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Primera tarea de la Fase 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Repartir a docs/ las secciones del README que corresponden por ámbito: 4.1.x, 5.4.3, 5.6 y 5.7, dejando aquí un resumen y el enlace.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91072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con prioridad alta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Cuatro, todos por diseñar: proveedores y contactos de servicio, compras y lista de la compra, Warehouse y CMMS doméstico.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README.md · documento vivo, última actualización 2026-08-10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resumen del README</dc:title>
  <dc:subject>PptxGenJS Presentation</dc:subject>
  <dc:creator>DRP</dc:creator>
  <cp:lastModifiedBy>DRP</cp:lastModifiedBy>
  <cp:revision>1</cp:revision>
  <dcterms:created xsi:type="dcterms:W3CDTF">2026-08-10T14:25:20Z</dcterms:created>
  <dcterms:modified xsi:type="dcterms:W3CDTF">2026-08-10T14:25:20Z</dcterms:modified>
</cp:coreProperties>
</file>