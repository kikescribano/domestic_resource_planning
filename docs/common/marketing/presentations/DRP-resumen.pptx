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312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2312F"/>
                </a:solidFill>
                <a:latin typeface="Calibri"/>
              </a:rPr>
              <a:t>Distribución de la batería de tests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Distribución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7B72"/>
              </a:solidFill>
              <a:effectLst/>
            </c:spPr>
          </c:dPt>
          <c:dPt>
            <c:idx val="1"/>
            <c:bubble3D val="0"/>
            <c:spPr>
              <a:solidFill>
                <a:srgbClr val="C25A32"/>
              </a:solidFill>
              <a:effectLst/>
            </c:spPr>
          </c:dPt>
          <c:dPt>
            <c:idx val="2"/>
            <c:bubble3D val="0"/>
            <c:spPr>
              <a:solidFill>
                <a:srgbClr val="1C4644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Unitarios de dominio</c:v>
                </c:pt>
                <c:pt idx="1">
                  <c:v>Integración de casos de uso</c:v>
                </c:pt>
                <c:pt idx="2">
                  <c:v>Contrato de adaptadores / E2E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7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Resumen del README.md de DRP (estado 2026-08-19): Fases 0, 1 y 2 cerradas. El core completo y los cuatro módulos de prioridad alta, activables hogar por hogar.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§1 y §2: resumen ejecutivo y objetivo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§3: analogía ERP → DRP.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§4.1: core mínimo obligatorio.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§4.1.1: naturaleza DURABLE / CONSUMABLE y alcance deliberado del 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§4.1.1: artículo y existencia; RegisterConsumableIntake y MergeStockItems.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§4.1.1 y §4.1.7: reglas mínimas de negocio y decisiones validadas.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§4.1.2: ubicaciones, jerarquía y atributos.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§4.1.4 y §5.4.1: roles y tokens acotados.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§4.1.5: préstamos, máquina de estados y alcance mínimo.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§4.2: módulos activables, cada uno con estado y prioridad. Trece filas, sin fila de backlog. Los cuatro de prioridad alta se construyeron en la Fase 2 y están en desarrollo; los nueve restantes siguen por diseñar.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§5.1: visión de componentes. Los módulos punteados siguen por diseñar; los de trazo continuo están construidos. El detalle de los trece está en la diapositiva anterior. La Fase 2 añadió las fronteras de paquete por módulo y la activación por hogar (ADR-010).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§5.2: contrato de evento, mecanismo interno y catálogo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§5.6: modelo de datos multi-tenant y Row-Level Security.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§5.7: catálogo de comandos y queries de la capa de aplicación.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§6 y ADR-001 a ADR-011. Las dos últimas llegaron con la Fase 2: fronteras de módulo y activación por hogar, y programación de comprobaciones y entrega de avisos.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§7: distribución 60/25/15 y ejemplos por nivel.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§8: roadmap y estado. Fase 0 cerrada el 2026-08-07, Fase 1 el 2026-08-17 y Fase 2 el 2026-08-19. El detalle de cada una vive en su propio roadmap, en docs/common/product/.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§8, §9 y §11: cierre de la Fase 2 y lo que queda para la Fase 3, que todavía no está planificada.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5669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DRP</a:t>
            </a:r>
            <a:endParaRPr lang="en-US" sz="9200" dirty="0"/>
          </a:p>
        </p:txBody>
      </p:sp>
      <p:sp>
        <p:nvSpPr>
          <p:cNvPr id="3" name="Text 1"/>
          <p:cNvSpPr/>
          <p:nvPr/>
        </p:nvSpPr>
        <p:spPr>
          <a:xfrm>
            <a:off x="868680" y="276148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FC8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Domestic Resource Planning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329184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ERP para el hogar: un core mínimo que resuelve lo esencial y módulos que se activan cuando aparece la necesidad.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4526280"/>
            <a:ext cx="1993392" cy="384048"/>
          </a:xfrm>
          <a:prstGeom prst="roundRect">
            <a:avLst>
              <a:gd name="adj" fmla="val 47619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52628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1 y 2 cerradas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026664" y="4526280"/>
            <a:ext cx="1645920" cy="384048"/>
          </a:xfrm>
          <a:prstGeom prst="roundRect">
            <a:avLst>
              <a:gd name="adj" fmla="val 47619"/>
            </a:avLst>
          </a:prstGeom>
          <a:solidFill>
            <a:srgbClr val="24534F"/>
          </a:solidFill>
          <a:ln w="6350">
            <a:solidFill>
              <a:srgbClr val="2453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6664" y="45262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+ 4 módulos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37176" y="4526280"/>
            <a:ext cx="1124712" cy="384048"/>
          </a:xfrm>
          <a:prstGeom prst="roundRect">
            <a:avLst>
              <a:gd name="adj" fmla="val 47619"/>
            </a:avLst>
          </a:prstGeom>
          <a:solidFill>
            <a:srgbClr val="24534F"/>
          </a:solidFill>
          <a:ln w="6350">
            <a:solidFill>
              <a:srgbClr val="2453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37176" y="4526280"/>
            <a:ext cx="1124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2026-08-19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68680" y="51389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README.md — documento de diseño del core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86600" y="1234440"/>
            <a:ext cx="4526280" cy="4343400"/>
          </a:xfrm>
          <a:prstGeom prst="roundRect">
            <a:avLst>
              <a:gd name="adj" fmla="val 2105"/>
            </a:avLst>
          </a:prstGeom>
          <a:solidFill>
            <a:srgbClr val="7FC8BE">
              <a:alpha val="8000"/>
            </a:srgbClr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32904" y="1325880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Vivienda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52360" y="1828800"/>
            <a:ext cx="3794760" cy="3291840"/>
          </a:xfrm>
          <a:prstGeom prst="roundRect">
            <a:avLst>
              <a:gd name="adj" fmla="val 2778"/>
            </a:avLst>
          </a:prstGeom>
          <a:solidFill>
            <a:srgbClr val="7FC8BE">
              <a:alpha val="14000"/>
            </a:srgbClr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98664" y="1920240"/>
            <a:ext cx="3502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Planta baja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2395728"/>
            <a:ext cx="3063240" cy="2212848"/>
          </a:xfrm>
          <a:prstGeom prst="roundRect">
            <a:avLst>
              <a:gd name="adj" fmla="val 4132"/>
            </a:avLst>
          </a:prstGeom>
          <a:solidFill>
            <a:srgbClr val="C25A32">
              <a:alpha val="22000"/>
            </a:srgbClr>
          </a:solidFill>
          <a:ln w="12700">
            <a:solidFill>
              <a:srgbClr val="C25A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64424" y="2487168"/>
            <a:ext cx="2770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C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· Trastero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83880" y="2962656"/>
            <a:ext cx="2331720" cy="1133856"/>
          </a:xfrm>
          <a:prstGeom prst="roundRect">
            <a:avLst>
              <a:gd name="adj" fmla="val 8065"/>
            </a:avLst>
          </a:prstGeom>
          <a:solidFill>
            <a:srgbClr val="C25A32">
              <a:alpha val="32000"/>
            </a:srgbClr>
          </a:solidFill>
          <a:ln w="12700">
            <a:solidFill>
              <a:srgbClr val="C25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0184" y="3054096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C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· Estantería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086600" y="571500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ubicación es polimórfica: un asset puede estar en una ubicación o dentro de otro asset.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DEL PROYECTO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información del hogar vive dispersa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Hojas de cálculo, carpetas de papeles, recordatorios sueltos del móvil y la memoria de quien gestiona la casa. No hay punto único de verdad, y mucho menos algo que crezca con las necesidades de cada hogar.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5349240" cy="3200400"/>
          </a:xfrm>
          <a:prstGeom prst="roundRect">
            <a:avLst>
              <a:gd name="adj" fmla="val 2571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450592"/>
            <a:ext cx="548640" cy="54864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627632" y="246888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DRP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3227832"/>
            <a:ext cx="4526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fecha de la ITV, en el calendario del móvil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manual de la caldera, en un cajón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inventario del garaje, «en la cabeza»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mantenimiento, recordado por costumbre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91072" y="2084832"/>
            <a:ext cx="5349240" cy="3200400"/>
          </a:xfrm>
          <a:prstGeom prst="roundRect">
            <a:avLst>
              <a:gd name="adj" fmla="val 2571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75120" y="2450592"/>
            <a:ext cx="548640" cy="54864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70064" y="246888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DRP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702552" y="3227832"/>
            <a:ext cx="4526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assets dados de alta, con su documentación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Ubicación, propietario y estado en un único sitio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activar el módulo CMMS, los planes de revisión se generan solos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lo ya cargado hay que rehacerlo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Visión: aplicar al hogar la disciplina de gestión de un ERP, sin obligar a implementar de golpe lo que ese hogar concreto no necesita.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ERP empresarial al hogar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350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EMPRESARIAL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3912" y="1335024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HOGAR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627632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productivos (maquinaria, líneas)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532120" y="1773936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53912" y="1627632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9944" y="1627632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Electrodomésticos, vehículos, mobiliario, herramientas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249424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249424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 preventivo/correctivo (CMMS)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532120" y="2395728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53912" y="2249424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9944" y="2249424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caldera, ITV, cambio de filtros, garantías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2871216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2871216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almacén / inventario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532120" y="3017520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53912" y="2871216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9944" y="2871216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Despensa, garaje, trastero, botiquín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493008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3493008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y aprovisionamiento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532120" y="3639312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53912" y="3493008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9944" y="3493008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compra, reposición de lo que se agota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4114800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672" y="4114800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Maestro de proveedores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532120" y="4261104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53912" y="4114800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9944" y="41148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Fontanero, servicio técnico de la caldera, taller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4736592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4736592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de producción / tareas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532120" y="4882896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53912" y="4736592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9944" y="4736592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domésticas, turnos, rutinas familiares, menú semanal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48640" y="5358384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04672" y="5358384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proyectos / eventos puntuales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5532120" y="5504688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53912" y="5358384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9944" y="5358384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Mudanzas, reformas, celebraciones, viajes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FUNCIONAL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core mínimo, obligatorio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piezas que todo hogar necesita antes de activar ningún módulo.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75688"/>
            <a:ext cx="475488" cy="475488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75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81328" y="2084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Gestión del hogar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69748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de aislamiento multi-tenant: agrupa usuarios, assets, ubicaciones y préstamos de una misma vivienda.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2075688"/>
            <a:ext cx="475488" cy="475488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075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76088" y="2084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Recursos y assets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63440" y="269748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Alta, baja, modificación, categorización, ubicación jerárquica, propietario y documentación asociada.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178308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58200" y="2075688"/>
            <a:ext cx="475488" cy="475488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2075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070848" y="2084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Ubicaciones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58200" y="269748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jerárquica de espacios físicos, con capacidad y condiciones de almacenaje.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8680" y="4178808"/>
            <a:ext cx="475488" cy="475488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178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81328" y="418795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Usuarios y roles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68680" y="480060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y roles, incluidos accesos acotados para los préstamos entre personas.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43400" y="388620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4178808"/>
            <a:ext cx="475488" cy="475488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0" y="4178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76088" y="418795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bus interno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663440" y="480060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entre módulos: el core funciona igual esté activo el módulo o no.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38160" y="388620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458200" y="4178808"/>
            <a:ext cx="475488" cy="475488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58200" y="4178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070848" y="418795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REST autenticada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458200" y="480060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canal de comunicación entre el backend y el frontend.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DOMINIO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asset es todo el material del hogar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una caldera hasta un paquete de harina. Restringir el concepto a los bienes «importantes» dejaría fuera la mayor parte de lo que un hogar realmente gestiona. Pero no todo se comporta igual: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93392"/>
            <a:ext cx="5349240" cy="3337560"/>
          </a:xfrm>
          <a:prstGeom prst="roundRect">
            <a:avLst>
              <a:gd name="adj" fmla="val 246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31343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1343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9077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propia; se usa de forma repetida sin agotarse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602736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CUENTA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14400" y="38039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por unidad física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429768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449884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Caldera, taladro, sofá, coche, cuadro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14400" y="490118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que puede ubicar a otros assets y único que se presta.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91072" y="1993392"/>
            <a:ext cx="5349240" cy="3337560"/>
          </a:xfrm>
          <a:prstGeom prst="roundRect">
            <a:avLst>
              <a:gd name="adj" fmla="val 246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56832" y="231343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56832" y="231343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CONSUMABLE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56832" y="29077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56832" y="3108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agota o se repone; las unidades son intercambiables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656832" y="3602736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CUENTA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656832" y="38039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por existencia —un artículo en una ubicación—, con cantidad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656832" y="429768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656832" y="449884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Harina, detergente, pilas, bombillas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656832" y="490118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está LENT; llegar a cantidad 0 no lo da de baja.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50468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tipo se fija en el alta y no es modificable: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la naturaleza de un asset equivale a darlo de baja y crear otro. El core solo mantiene un contador — consumos, mínimos, caducidad y lotes son del módulo Warehouse.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Y EXISTENCIAS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Definición y existencia van separadas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artículo no es un asset: no ocupa sitio, no tiene cantidad y no se presta. Es obligatorio en un CONSUMABLE y opcional en un DURABLE, donde permite compartir modelo y documentación entre unidades idénticas.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01952"/>
            <a:ext cx="3840480" cy="2377440"/>
          </a:xfrm>
          <a:prstGeom prst="roundRect">
            <a:avLst>
              <a:gd name="adj" fmla="val 3462"/>
            </a:avLst>
          </a:prstGeom>
          <a:solidFill>
            <a:srgbClr val="EFF4F2"/>
          </a:solidFill>
          <a:ln w="15875">
            <a:solidFill>
              <a:srgbClr val="2E7B7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5798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Artículo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25054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tabla articles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2862072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· Azúcar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categoryId · Alimentación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· GRAM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brand, barcode (opcionales)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26280" y="2862072"/>
            <a:ext cx="566928" cy="292608"/>
          </a:xfrm>
          <a:prstGeom prst="rightArrow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3200400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285232" y="1901952"/>
            <a:ext cx="3017520" cy="2377440"/>
          </a:xfrm>
          <a:prstGeom prst="roundRect">
            <a:avLst>
              <a:gd name="adj" fmla="val 3462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577840" y="21579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CONSUMABLE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77840" y="24140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Existencia · Despensa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77840" y="28346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6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1.300</a:t>
            </a:r>
            <a:pPr indent="0" marL="0">
              <a:buNone/>
            </a:pPr>
            <a:r>
              <a:rPr lang="en-US" sz="15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57784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propietario · estado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622792" y="1901952"/>
            <a:ext cx="3017520" cy="2377440"/>
          </a:xfrm>
          <a:prstGeom prst="roundRect">
            <a:avLst>
              <a:gd name="adj" fmla="val 3462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15400" y="21579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CONSUMABLE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915400" y="24140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Existencia · Trastero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15400" y="28346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6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pPr indent="0" marL="0">
              <a:buNone/>
            </a:pPr>
            <a:r>
              <a:rPr lang="en-US" sz="15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91540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propietario · estado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350215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718304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unidad la fija el artículo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4672" y="5212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sus existencias van en la misma unidad; convertir es cosa de Warehouse.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43400" y="4572000"/>
            <a:ext cx="350215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9432" y="4718304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existencia viva por artículo y ubicación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99432" y="5212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único parcial con NULLS NOT DISTINCT que excluye status = DECOMMISSIONED.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4572000"/>
            <a:ext cx="350215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94192" y="4718304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entrada suma; el PATCH sustituye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394192" y="5212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RegisterConsumableIntake acumula; la cantidad del PATCH es absoluta.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MÍNIMAS DE NEGOCIO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core no deja hacer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847088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08176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ciclos en la jerarquía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08176" y="213969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asset ni ubicación puede ser su propio ancestro.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91072" y="1572768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0" y="1847088"/>
            <a:ext cx="402336" cy="402336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5060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ubicación, nunca dos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150608" y="213969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un Asset o una Location, jamás las dos a la vez.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26080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3200400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08176" y="31089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baja es siempre lógica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08176" y="349300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= DECOMMISSIONED; nada se borra. No se da de baja con hijos o préstamo abierto.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91072" y="2926080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0" y="3200400"/>
            <a:ext cx="402336" cy="402336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50608" y="31089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un DURABLE ubica y se presta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150608" y="349300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estantería contiene cosas; un paquete de harina, no.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1248" y="4553712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" y="4553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08176" y="446227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Llegar a cero no da de baja nada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408176" y="48463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consumible agotado sigue existiendo, pendiente de reposición.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1072" y="4279392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83680" y="4553712"/>
            <a:ext cx="402336" cy="402336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4553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150608" y="446227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artículo se retira, no se borra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150608" y="48463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retired_at cuando no le queda existencia viva: las bajas siguen apuntando a él.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563270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Juntar dos existencias del mismo artículo creadas por separado es MergeStockItems, no un MoveAsset: la fusión decide qué ubicación y qué propietario sobreviven, y eso lo elige el usuario.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Jerarquía y ubicación polimórfica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35024"/>
            <a:ext cx="182880" cy="18288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2801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783080" y="1335024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39112" y="12801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002536"/>
            <a:ext cx="182880" cy="18288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7830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Vivienda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2404872"/>
            <a:ext cx="0" cy="51206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1693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1560" y="260604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9304" y="2825496"/>
            <a:ext cx="182880" cy="18288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00200" y="26060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 baja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325880" y="3227832"/>
            <a:ext cx="0" cy="51206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5880" y="373989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54480" y="342900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92224" y="3648456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03120" y="34290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Trastero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1828800" y="4050792"/>
            <a:ext cx="0" cy="51206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456285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425196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95144" y="4471416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06040" y="42519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Estantería de trastero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1828800" y="4050792"/>
            <a:ext cx="0" cy="133502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28800" y="538581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507492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95144" y="5294376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06040" y="50749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de trabajo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6035040" y="1783080"/>
            <a:ext cx="5608015" cy="4160520"/>
          </a:xfrm>
          <a:prstGeom prst="roundRect">
            <a:avLst>
              <a:gd name="adj" fmla="val 197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00800" y="2011680"/>
            <a:ext cx="48764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Atributos mínimos de una Location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446520" y="2450592"/>
            <a:ext cx="47850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y nombre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padre (opcional, para la jerarquía)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Capacidad: volumen, peso máximo o nº de unidades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Condiciones ambientales: temperatura, humedad, luz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y observaciones libres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0" y="4160520"/>
            <a:ext cx="4876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Reglas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6446520" y="4544568"/>
            <a:ext cx="47850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ubicación no puede ser su propia ancestra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informa capacidad, el sistema debería avisar al superarla (bloquear o no, por definir)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Location no es un recurso del hogar: es el contenedor físico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roles, dos alcances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roles estructurales pertenecen a usuarios del hogar con cuenta completa; los contextuales van ligados a un préstamo concreto y pueden recaer en personas externas.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4672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Administrador del hogar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04672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HOGAR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04672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completo de assets, ubicaciones y usuarios; gestión de roles; activar y desactivar módulos.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21024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21024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21024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Miembro del hogar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21024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HOGAR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621024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 assets y ubicaciones; inicia y gestiona préstamos. Sin gestión de usuarios ni módulos.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81344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37376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37376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Prestador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37376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PRÉSTAMO CONCRETO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37376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el estado del préstamo y confirma la entrega del asset.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997696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53728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53728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253728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Receptor del préstamo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253728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PRÉSTAMO CONCRETO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253728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el estado y la fecha prevista; confirma la devolución.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50749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acceso acotado por token (JWT con loanId y rol, sin sub de usuario) se aplica únicamente cuando la persona no tiene cuenta completa en el sistema.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concepto mínimo dentro del core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72768"/>
            <a:ext cx="2926080" cy="868680"/>
          </a:xfrm>
          <a:prstGeom prst="roundRect">
            <a:avLst>
              <a:gd name="adj" fmla="val 9474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57276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17720" y="1572768"/>
            <a:ext cx="2926080" cy="868680"/>
          </a:xfrm>
          <a:prstGeom prst="roundRect">
            <a:avLst>
              <a:gd name="adj" fmla="val 9474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7720" y="157276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0" y="1572768"/>
            <a:ext cx="2926080" cy="868680"/>
          </a:xfrm>
          <a:prstGeom prst="roundRect">
            <a:avLst>
              <a:gd name="adj" fmla="val 9474"/>
            </a:avLst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412480" y="157276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86200" y="1874520"/>
            <a:ext cx="566928" cy="274320"/>
          </a:xfrm>
          <a:prstGeom prst="rightArrow">
            <a:avLst/>
          </a:prstGeom>
          <a:solidFill>
            <a:srgbClr val="AFC2BF"/>
          </a:solidFill>
          <a:ln w="6350">
            <a:solidFill>
              <a:srgbClr val="AFC2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71800" y="24688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 diario ve la fecha superada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80960" y="1874520"/>
            <a:ext cx="566928" cy="274320"/>
          </a:xfrm>
          <a:prstGeom prst="rightArrow">
            <a:avLst/>
          </a:prstGeom>
          <a:solidFill>
            <a:srgbClr val="AFC2BF"/>
          </a:solidFill>
          <a:ln w="6350">
            <a:solidFill>
              <a:srgbClr val="AFC2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66560" y="24688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devolución confirmada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10515600" cy="384048"/>
          </a:xfrm>
          <a:prstGeom prst="roundRect">
            <a:avLst>
              <a:gd name="adj" fmla="val 21429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889504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ACTIVE también se devuelve sin pasar por OVERDUE · el asset acompaña: LENT mientras el préstamo está abierto, AVAILABLE al devolverlo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840480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Atributos mínimos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60120" y="429768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y asset prestado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Prestador y receptor: del hogar o personas externas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de inicio, de devolución prevista y real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Estado: ACTIVE, RETURNED u OVERDUE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91072" y="358444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56832" y="3840480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Reglas y alcance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702552" y="429768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préstamo abierto por asset: un OVERDUE sigue ocupándolo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se prestan assets DURABLE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Ceder un consumible es un AdjustAssetQuantity, no un préstamo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préstamo crece, saldrá del core como módulo propio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Trece, activables por hogar — cuatro ya construidos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es obligatorio: el core funciona con todos apagados. Los enciende el administrador de su hogar, y apagarlos conserva los datos.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008" cy="1335024"/>
          </a:xfrm>
          <a:prstGeom prst="roundRect">
            <a:avLst>
              <a:gd name="adj" fmla="val 42857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11887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· HECHOS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31520" y="2404872"/>
            <a:ext cx="11887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módulos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57400" y="1737360"/>
            <a:ext cx="2286686" cy="1335024"/>
          </a:xfrm>
          <a:prstGeom prst="roundRect">
            <a:avLst>
              <a:gd name="adj" fmla="val 6164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40280" y="1865376"/>
            <a:ext cx="19209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Proveedores y contactos de servicio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240280" y="2304288"/>
            <a:ext cx="19209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F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arregla, quién cobra y quién responde de una garantía.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90390" y="1737360"/>
            <a:ext cx="2286686" cy="1335024"/>
          </a:xfrm>
          <a:prstGeom prst="roundRect">
            <a:avLst>
              <a:gd name="adj" fmla="val 6164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73270" y="1865376"/>
            <a:ext cx="19209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y lista de la compra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73270" y="2304288"/>
            <a:ext cx="19209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F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falta, qué reponer y qué está pedido. Cierra el ciclo de Warehouse.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923380" y="1737360"/>
            <a:ext cx="2286686" cy="1335024"/>
          </a:xfrm>
          <a:prstGeom prst="roundRect">
            <a:avLst>
              <a:gd name="adj" fmla="val 6164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06260" y="1865376"/>
            <a:ext cx="19209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06260" y="2304288"/>
            <a:ext cx="19209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F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Despensa, garaje y trastero: stock, consumo, mínimos y caducidad.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356369" y="1737360"/>
            <a:ext cx="2286686" cy="1335024"/>
          </a:xfrm>
          <a:prstGeom prst="roundRect">
            <a:avLst>
              <a:gd name="adj" fmla="val 6164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39249" y="1865376"/>
            <a:ext cx="19209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 (CMMS)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539249" y="2304288"/>
            <a:ext cx="19209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F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Preventivo y correctivo: planes, avisos que se rearman e histórico.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218688"/>
            <a:ext cx="64008" cy="1115568"/>
          </a:xfrm>
          <a:prstGeom prst="roundRect">
            <a:avLst>
              <a:gd name="adj" fmla="val 42857"/>
            </a:avLst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218688"/>
            <a:ext cx="11887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MEDIA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31520" y="3776472"/>
            <a:ext cx="11887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módulos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057400" y="3218688"/>
            <a:ext cx="3097682" cy="1115568"/>
          </a:xfrm>
          <a:prstGeom prst="roundRect">
            <a:avLst>
              <a:gd name="adj" fmla="val 7377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40280" y="3346704"/>
            <a:ext cx="27319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Planificador de tareas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240280" y="3785616"/>
            <a:ext cx="27319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Rutinas, turnos entre miembros del hogar y recordatorios.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301386" y="3218688"/>
            <a:ext cx="3097682" cy="1115568"/>
          </a:xfrm>
          <a:prstGeom prst="roundRect">
            <a:avLst>
              <a:gd name="adj" fmla="val 7377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4266" y="3346704"/>
            <a:ext cx="27319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y presupuesto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4266" y="3785616"/>
            <a:ext cx="27319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cuesta lo que entra en casa, y el presupuesto por periodo.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545373" y="3218688"/>
            <a:ext cx="3097682" cy="1115568"/>
          </a:xfrm>
          <a:prstGeom prst="roundRect">
            <a:avLst>
              <a:gd name="adj" fmla="val 7377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28253" y="3346704"/>
            <a:ext cx="27319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eventos temporales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728253" y="3785616"/>
            <a:ext cx="27319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Mudanzas, reformas, viajes y celebraciones, con inicio y fin.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4480560"/>
            <a:ext cx="64008" cy="786384"/>
          </a:xfrm>
          <a:prstGeom prst="roundRect">
            <a:avLst>
              <a:gd name="adj" fmla="val 42857"/>
            </a:avLst>
          </a:prstGeom>
          <a:solidFill>
            <a:srgbClr val="9BAFAC"/>
          </a:solidFill>
          <a:ln w="6350">
            <a:solidFill>
              <a:srgbClr val="9BA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4480560"/>
            <a:ext cx="1188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9BA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BAJA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1520" y="4873752"/>
            <a:ext cx="1188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módulos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057400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85416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 avanzados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679393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07409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Recetas y menú semanal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1386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29402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 de uso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923380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051396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 vida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545373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73389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Garantías y seguros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167366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295382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Mascotas y plantas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cuatro de prioridad alta son el alcance entero de la Fase 2 y siguen en desarrollo: el código está, el despliegue todavía no. La lista no está cerrada, pero no hay cajón de sastre.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componentes, un monolito modular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1B4B48"/>
          </a:solidFill>
          <a:ln w="12700">
            <a:solidFill>
              <a:srgbClr val="2F63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Web · TypeScript + React · mobile-first, de 375 px a ultrawide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0" y="2212848"/>
            <a:ext cx="301752" cy="384048"/>
          </a:xfrm>
          <a:prstGeom prst="down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22402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/ REST + JWT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697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autenticada · Spring Security + JWT · único canal backend ↔ frontend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584448"/>
            <a:ext cx="2622728" cy="914400"/>
          </a:xfrm>
          <a:prstGeom prst="roundRect">
            <a:avLst>
              <a:gd name="adj" fmla="val 9000"/>
            </a:avLst>
          </a:prstGeom>
          <a:solidFill>
            <a:srgbClr val="1C4644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730752"/>
            <a:ext cx="2403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4096512"/>
            <a:ext cx="240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/ Assets · obligatorio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60004" y="4498848"/>
            <a:ext cx="0" cy="182880"/>
          </a:xfrm>
          <a:prstGeom prst="line">
            <a:avLst/>
          </a:prstGeom>
          <a:noFill/>
          <a:ln w="15875">
            <a:solidFill>
              <a:srgbClr val="3C666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72536" y="3584448"/>
            <a:ext cx="2622728" cy="914400"/>
          </a:xfrm>
          <a:prstGeom prst="roundRect">
            <a:avLst>
              <a:gd name="adj" fmla="val 9000"/>
            </a:avLst>
          </a:prstGeom>
          <a:solidFill>
            <a:srgbClr val="1C4644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82264" y="3730752"/>
            <a:ext cx="2403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alta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482264" y="4096512"/>
            <a:ext cx="240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módulos · construidos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83900" y="4498848"/>
            <a:ext cx="0" cy="182880"/>
          </a:xfrm>
          <a:prstGeom prst="line">
            <a:avLst/>
          </a:prstGeom>
          <a:noFill/>
          <a:ln w="15875">
            <a:solidFill>
              <a:srgbClr val="3C666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96432" y="3584448"/>
            <a:ext cx="2622728" cy="914400"/>
          </a:xfrm>
          <a:prstGeom prst="roundRect">
            <a:avLst>
              <a:gd name="adj" fmla="val 9000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6160" y="3730752"/>
            <a:ext cx="2403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media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06160" y="4096512"/>
            <a:ext cx="240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módulos · opcionales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507796" y="4498848"/>
            <a:ext cx="0" cy="182880"/>
          </a:xfrm>
          <a:prstGeom prst="line">
            <a:avLst/>
          </a:prstGeom>
          <a:noFill/>
          <a:ln w="15875">
            <a:solidFill>
              <a:srgbClr val="3C6663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9020327" y="3584448"/>
            <a:ext cx="2622728" cy="914400"/>
          </a:xfrm>
          <a:prstGeom prst="roundRect">
            <a:avLst>
              <a:gd name="adj" fmla="val 9000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30055" y="3730752"/>
            <a:ext cx="2403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baja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130055" y="4096512"/>
            <a:ext cx="240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módulos · opcionales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0331691" y="4498848"/>
            <a:ext cx="0" cy="182880"/>
          </a:xfrm>
          <a:prstGeom prst="line">
            <a:avLst/>
          </a:prstGeom>
          <a:noFill/>
          <a:ln w="15875">
            <a:solidFill>
              <a:srgbClr val="3C6663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48640" y="4681728"/>
            <a:ext cx="11094415" cy="603504"/>
          </a:xfrm>
          <a:prstGeom prst="roundRect">
            <a:avLst>
              <a:gd name="adj" fmla="val 13636"/>
            </a:avLst>
          </a:prstGeom>
          <a:solidFill>
            <a:srgbClr val="1B4B48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68172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Bus interno (in-process) · publicación y suscripción entre módulos, sin que el core sepa quién escucha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48640" y="534009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agrupamiento es la prioridad de la sección 4.2, no una dependencia: dentro de un grupo los módulos no se necesitan entre sí.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023360" y="5650992"/>
            <a:ext cx="4142232" cy="530352"/>
          </a:xfrm>
          <a:prstGeom prst="roundRect">
            <a:avLst>
              <a:gd name="adj" fmla="val 15517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0" y="5650992"/>
            <a:ext cx="4142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16+ · RLS activado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BUS INTERNO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contrato y trece eventos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206240" cy="2834640"/>
          </a:xfrm>
          <a:prstGeom prst="roundRect">
            <a:avLst>
              <a:gd name="adj" fmla="val 29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69164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DomainEvent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eventId      UUID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        String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occurredAt   Instant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aggregateId  String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      Int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payload      JSON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4572000"/>
            <a:ext cx="420624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727448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In-process: monolito modular, pub/sub en memoria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at-least-once: handlers idempotentes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fallo del módulo no afecta a la transacción del core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candidata: Transactional Outbox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74920" y="1481328"/>
            <a:ext cx="6568135" cy="4553712"/>
          </a:xfrm>
          <a:prstGeom prst="roundRect">
            <a:avLst>
              <a:gd name="adj" fmla="val 1807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0" y="1691640"/>
            <a:ext cx="59280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Catálogo inicial de eventos del core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22392" y="2221992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0136" y="2139696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HouseholdCreated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836408" y="2139696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un hogar queda verificado y utilizable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22392" y="25054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0136" y="2423160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ArticleCreated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36408" y="2423160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crea un artículo en el catálogo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22392" y="2788920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0136" y="2706624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AssetCreated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36408" y="2706624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da de alta un asset o la primera existencia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22392" y="3072384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0136" y="2990088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AssetMoved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836408" y="2990088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cambia la ubicación de un asset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22392" y="3355848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0136" y="3273552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AssetHierarchyChanged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836408" y="3273552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cambia el asset padre o la composición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22392" y="3639312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0136" y="3557016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AssetQuantityChanged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36408" y="3557016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cambia la cantidad de un CONSUMABLE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22392" y="392277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0136" y="3840480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AssetDeactivated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836408" y="3840480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da de baja un asset o se fusiona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22392" y="4206240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0136" y="4123944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LocationCreated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836408" y="4123944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crea una ubicación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422392" y="4489704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60136" y="4407408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DocumentAttached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836408" y="4407408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adjunta un documento a un asset o artículo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22392" y="4773168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0136" y="4690872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UserDeactivated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36408" y="4690872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alguien deja el hogar, no su cuenta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422392" y="5056632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60136" y="4974336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LoanStarted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836408" y="4974336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inicia un préstamo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422392" y="534009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60136" y="5257800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LoanOverdue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836408" y="5257800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el proceso diario ve la fecha superada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422392" y="5623560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0136" y="5541264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LoanReturned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836408" y="5541264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confirma la devolución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Aislamiento multi-tenant en dos capas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Varios hogares comparten la misma base de datos. El aislamiento se defiende dos veces, de forma independiente.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29968"/>
            <a:ext cx="512064" cy="512064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36192" y="204825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2651760"/>
            <a:ext cx="4654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caso de uso y todo repositorio filtra por el householdId del token. Nunca se confía en un householdId recibido del cliente.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91072" y="173736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11112" y="2029968"/>
            <a:ext cx="512064" cy="512064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11112" y="202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78624" y="204825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datos · RLS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38544" y="2651760"/>
            <a:ext cx="4654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tabla con household_id tiene Row-Level Security y una política que limita las filas al hogar de la sesión. Si un repositorio olvida el filtro, PostgreSQL sigue sin devolver filas ajenas.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6903720" cy="1481328"/>
          </a:xfrm>
          <a:prstGeom prst="roundRect">
            <a:avLst>
              <a:gd name="adj" fmla="val 5556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41648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assets ENABLE ROW LEVEL SECURITY;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assets FORCE ROW LEVEL SECURITY;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POLICY assets_household_isolation ON assets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(household_id = current_setting('app.household_id')::uuid);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680960" y="3886200"/>
            <a:ext cx="3959352" cy="1481328"/>
          </a:xfrm>
          <a:prstGeom prst="roundRect">
            <a:avLst>
              <a:gd name="adj" fmla="val 5556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0" y="402336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condiciones fáciles de pasar por alto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973568" y="4352544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de BD de la aplicación no puede ser superusuario ni tener BYPASSRLS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 falta FORCE ROW LEVEL SECURITY para que la política se aplique al propietario de la tabla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55595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fija SET LOCAL app.household_id al abrir cada transacción; las políticas se versionan como migraciones Flyway, igual que el esquema (ADR-003 y ADR-004).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DE APLICACIÓN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casos de uso del core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949440" cy="4343400"/>
          </a:xfrm>
          <a:prstGeom prst="roundRect">
            <a:avLst>
              <a:gd name="adj" fmla="val 189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682496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Comandos · 30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0116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uno valida sus reglas y, cuando corresponde, publica su evento en el bus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96112" y="2331720"/>
            <a:ext cx="30906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47802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Y ASSETS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328416" y="244144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7280" y="2770632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CreateArticle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RegisterConsumableIntake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MergeStockItems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06240" y="2331720"/>
            <a:ext cx="30906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7408" y="247802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HOGAR, IDENTIDAD Y ACCESO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638544" y="244144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407408" y="2770632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CreateHousehold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VerifyEmail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InviteUser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" y="3794760"/>
            <a:ext cx="30906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94106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Y FICHEROS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28416" y="390448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97280" y="4233672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AttachDocument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UploadFile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SetIdentityAvatar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206240" y="3794760"/>
            <a:ext cx="30906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07408" y="394106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38544" y="390448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407408" y="4233672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StartLoan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ConfirmReturn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GenerateExternalAccessToken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96112" y="5285232"/>
            <a:ext cx="6254496" cy="457200"/>
          </a:xfrm>
          <a:prstGeom prst="roundRect">
            <a:avLst>
              <a:gd name="adj" fmla="val 18000"/>
            </a:avLst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6112" y="5285232"/>
            <a:ext cx="6254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de sistema · 3 — PurgeUnverifiedHouseholds · PurgeUnusedFiles · MarkOverdueLoans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772400" y="1481328"/>
            <a:ext cx="3870655" cy="4343400"/>
          </a:xfrm>
          <a:prstGeom prst="roundRect">
            <a:avLst>
              <a:gd name="adj" fmla="val 2126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119872" y="1682496"/>
            <a:ext cx="31757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Consultas · 12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119872" y="2011680"/>
            <a:ext cx="31757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catálogo, los assets y el hogar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156448" y="2377440"/>
            <a:ext cx="310255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ListArticles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ListAssets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GetAsset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ListCategories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ListLocations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ListUsers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ListInvitations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GetLoan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ListDocuments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ListFiles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DownloadFile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GetStorageUsage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156448" y="4800600"/>
            <a:ext cx="31025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consulta queda acotada al householdId del token. Los listados excluyen por defecto los assets dados de baja y los artículos retirados.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Decisiones ya cerradas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04672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Kotlin + Spring Boot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04672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Monolito modular, Clean Architecture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4992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21024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21024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 16+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3621024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como segunda capa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37376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MIGRACIONES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37376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Flyway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37376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plano versionado, esquema y políticas juntos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97696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53728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BE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253728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bus in-process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9253728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propio sobre Spring, sin dependencia añadida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04672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FE ↔ BE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4672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REST + JWT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04672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Security; tokens acotados de préstamo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64992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621024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621024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OpenAPI 3.0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3621024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openapi.yaml, 98 operaciones, fuente de verdad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81344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37376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37376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sobre Vite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6437376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Mobile-first, de 375 px a ultrawide; WCAG 2.2 AA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997696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253728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253728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JUnit 5 + Testcontainers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9253728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y Playwright en el frontend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532120"/>
            <a:ext cx="11094415" cy="566928"/>
          </a:xfrm>
          <a:prstGeom prst="roundRect">
            <a:avLst>
              <a:gd name="adj" fmla="val 14516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55321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ADR recogen el porqué y lo descartado: monolito modular · Spring Boot · Row-Level Security · Flyway · ficheros en disco · React + Vite · contrato como fuente de verdad · monorepo · correo saliente · fronteras de módulo · comprobaciones periódicas y avisos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Estrategia de testing, igual en BE y FE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484632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06440" y="1737360"/>
            <a:ext cx="5836615" cy="1280160"/>
          </a:xfrm>
          <a:prstGeom prst="roundRect">
            <a:avLst>
              <a:gd name="adj" fmla="val 642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080760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7B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60 %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086600" y="1938528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Unitarios de dominio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086600" y="2340864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y reglas puras, sin dependencias externas. Ej.: un Asset no puede ser su propio ancestro.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06440" y="3273552"/>
            <a:ext cx="5836615" cy="1280160"/>
          </a:xfrm>
          <a:prstGeom prst="roundRect">
            <a:avLst>
              <a:gd name="adj" fmla="val 642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80760" y="345643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5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086600" y="3474720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 casos de uso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086600" y="3877056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Orquestación completa con dependencias reales o en memoria. Ej.: CreateAsset persiste y publica AssetCreated.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4809744"/>
            <a:ext cx="5836615" cy="1280160"/>
          </a:xfrm>
          <a:prstGeom prst="roundRect">
            <a:avLst>
              <a:gd name="adj" fmla="val 642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80760" y="499262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46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15 %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086600" y="5010912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 adaptadores y E2E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86600" y="5413248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adaptador cumple el contrato externo. Ej.: POST /assets/intake responde 201 y luego 200 acumulando.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ACTUAL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por fases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65960"/>
            <a:ext cx="512064" cy="512064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Definición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4672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stack, alcance del core y estrategia de testing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21024" y="1965960"/>
            <a:ext cx="512064" cy="512064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21024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79392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21024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MVP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621024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autenticación, API REST, event bus y cliente web completo del core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21024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1024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81344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37376" y="1965960"/>
            <a:ext cx="512064" cy="512064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37376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95744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37376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Módulos activables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37376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Activación por hogar, plataforma de avisos y los cuatro módulos de prioridad alta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37376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37376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Completada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997696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53728" y="1965960"/>
            <a:ext cx="512064" cy="512064"/>
          </a:xfrm>
          <a:prstGeom prst="ellipse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53728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912096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253728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Módulos adicionales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253728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nueve restantes, por orden de prioridad (sección 4.2)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253728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E7EDEB"/>
          </a:solidFill>
          <a:ln w="6350">
            <a:solidFill>
              <a:srgbClr val="D3DF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53728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51663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validación (ADR-001), cumplido en las dos fases entregadas: un recorrido vertical que atraviesa frontend, API autenticada, aplicación, dominio y PostgreSQL. Hoy son siete, en un navegador de verdad.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core y los cuatro primeros módulos, entregados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queda es la Fase 3: los nueve módulos restantes de la sección 4.2, sobre un mecanismo de activación que ya existe y una plataforma de avisos que ya entrega.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RECORRIDO VERTICAL QUE VALIDA CADA ENTREGA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1B4B48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42032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25496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2E7B72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25496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autenticada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18888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02352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2E7B72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2352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095744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9208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2E7B72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79208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372600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56064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1B4B48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56064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6112" y="41605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entregado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96112" y="45720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core completo y cuatro módulos, sobre activación por hogar y avisos programados. 98 operaciones en el contrato, 28 tablas con Row-Level Security y siete recorridos verticales.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91072" y="39319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38544" y="41605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queda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638544" y="45720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nueve módulos restantes, por orden de prioridad. Ninguno pide arquitectura nueva: el camino de un módulo está recorrido cuatro veces.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5806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README.md · documento vivo, última actualización 2026-08-19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DRP · Domestic Resource Planning — resumen del README</dc:title>
  <dc:subject>PptxGenJS Presentation</dc:subject>
  <dc:creator>DRP</dc:creator>
  <cp:lastModifiedBy>DRP</cp:lastModifiedBy>
  <cp:revision>1</cp:revision>
  <dcterms:created xsi:type="dcterms:W3CDTF">2026-08-19T13:36:59Z</dcterms:created>
  <dcterms:modified xsi:type="dcterms:W3CDTF">2026-08-19T13:36:59Z</dcterms:modified>
</cp:coreProperties>
</file>