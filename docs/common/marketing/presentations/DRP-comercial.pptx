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Los trece módulos previstos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Módulos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FC8BE"/>
              </a:solidFill>
              <a:effectLst/>
            </c:spPr>
          </c:dPt>
          <c:dPt>
            <c:idx val="1"/>
            <c:bubble3D val="0"/>
            <c:spPr>
              <a:solidFill>
                <a:srgbClr val="8FA6A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2312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2312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Construidos</c:v>
                </c:pt>
                <c:pt idx="1">
                  <c:v>Por construir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4D4D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Presentación comercial de DRP, dirigida a quien no conoce el proyecto: inversión, colaboradores y primeros hogares piloto. Procede del README §1 y refleja su estado a 2026-08-20: Fases 1 y 2 y el cierre de huecos cerrados, cuatro de trece módulos construidos y ningún despliegue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§2 (Objetivo del proyecto): el problema tal cual lo formula el documento —hojas de cálculo, carpetas de papeles, recordatorios sueltos y la memoria de quien gestiona la casa— y la ausencia de un punto único de verdad que además crezca con el hogar.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§1 (Resumen ejecutivo): el enfoque modular de los ERP empresariales trasladado al hogar, con un core mínimo y módulos activables a medida que aparece la necesidad.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§3 (Analogía ERP → DRP), las siete filas de su tabla, con los nombres de la columna izquierda desprovistos de siglas para un público no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§1, §4.1 y §4.2: el core mínimo obligatorio, la activación progresiva de módulos sin rehacer lo cargado, y los avisos por fecha que la plataforma programa y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§4.1 (Core mínimo obligatorio) y sus subsecciones 4.1.1 a 4.1.5, contadas en lenguaje de casa: assets duraderos y consumibles, ubicaciones jerárquicas, propietario y estado, documentación asociada, usuarios por invitación y préstamos con acceso acotado.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§2, ejemplo ilustrativo de la familia con caldera, dos coches, electrodomésticos y garaje. Las cuatro escenas se apoyan en el core (préstamos y documentos) y en los cuatro módulos construidos (mantenimiento, warehouse, compras y proveedores). Va marcada como ilustrativa porque §4.2 deja claro que no hay ningún hogar real usando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§4.2 (Módulos futuros, activables progresivamente): trece filas repartidas en tres prioridades. Los cuatro de prioridad alta —proveedores, warehouse, compras y mantenimiento— fueron el alcance de la Fase 2 y están construidos; los nueve restantes siguen «Por diseñar».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§4.2, nota final sobre el patrón de aviso por fecha que aparece en cinco módulos —caducidad, revisión, vencimiento de garantía, devolución de préstamo y cuidados de mascotas y plantas—; programar la comprobación y entregar el aviso son capacidad de plataforma. El resumen diario único, y su ausencia cuando no hay nada, están en la ADR-011.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§5.6 (Modelo de datos multi-tenant) y §5.8 (Almacenamiento de ficheros), traducidos a lenguaje llano: las dos capas independientes de aislamiento, la cuota de 1 GB por hogar y la baja lógica. Más §4.1.4: verificación de correo obligatoria y alta en un hogar existente siempre por invitación.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§5.5 (Frontend responsive): enfoque mobile-first, de 375 px a ultrawide. Y §6, fila de accesibilidad: WCAG 2.2 nivel AA como objetivo normativo verificable, comprobado en navegador real dentro del recorrido vertical.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§8 (Roadmap y estado actual) con el detalle de 8.2 y 8.3, y la nota de §4.2 que explica por qué los cuatro módulos construidos siguen en «En desarrollo»: no hay despliegue, ni hogar real, ni nadie usando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§4.2 (trece módulos, cuatro construidos y en desarrollo) y §8 (cuatro fases, tres de ellas cerradas, y la Fase 3 pendiente sin planificar). El cero de hogares es literal: §4.2 declara que no hay despliegue, ni servidor contratado, ni nadie usando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§6 (fila de despliegue: VPS elegido con consumo medido, no contratado), §4.2 (las dos decisiones abiertas cuyo responsable pasó a ser «la primera revisión de operación con hogares reales dentro») y §8.3 (el camino de módulo recorrido cuatro veces).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§8 y §4.2: cierre y llamada a la acción. Las tres peticiones —hogares piloto, colaboradores e inversión— se corresponden con los tres huecos declarados en la diapositiva anterior. El bloque de contacto se rellena en el generador antes de cada envío; no se inventa.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agradecimiento y créditos. Es obligatoria: la plantilla «Pitch Deck Minitheme» de Slidesgo se descargó con cuenta gratuita, y su licencia exige conservar la diapositiva de agradecimiento en cualquier presentación derivada. No se retira mientras esta presentación salga fuera. Ver docs/common/marketing/README.md.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78638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300" kern="0" dirty="0">
                <a:solidFill>
                  <a:srgbClr val="1A4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DRP · DRP · DRP · DRP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207008"/>
            <a:ext cx="5669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DRP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868680" y="27249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FC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Domestic Resource Planning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3255264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ERP para el hogar. Das de alta lo que tienes, enciendes solo lo que tu casa necesita y el sistema te avisa antes de que se te pase.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498848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498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 y 2 cerradas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26664" y="4498848"/>
            <a:ext cx="2601468" cy="384048"/>
          </a:xfrm>
          <a:prstGeom prst="roundRect">
            <a:avLst>
              <a:gd name="adj" fmla="val 50000"/>
            </a:avLst>
          </a:prstGeom>
          <a:solidFill>
            <a:srgbClr val="24534F"/>
          </a:solidFill>
          <a:ln w="9525">
            <a:solidFill>
              <a:srgbClr val="245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4498848"/>
            <a:ext cx="2601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13 módulos construidos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92724" y="4498848"/>
            <a:ext cx="1472184" cy="384048"/>
          </a:xfrm>
          <a:prstGeom prst="roundRect">
            <a:avLst>
              <a:gd name="adj" fmla="val 50000"/>
            </a:avLst>
          </a:prstGeom>
          <a:solidFill>
            <a:srgbClr val="24534F"/>
          </a:solidFill>
          <a:ln w="9525">
            <a:solidFill>
              <a:srgbClr val="2453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92724" y="4498848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5120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comercial · generada desde el documento de diseño del proyecto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59168" y="1170432"/>
            <a:ext cx="4572000" cy="1097280"/>
          </a:xfrm>
          <a:prstGeom prst="triangle">
            <a:avLst/>
          </a:prstGeom>
          <a:solidFill>
            <a:srgbClr val="7FC8BE">
              <a:alpha val="28000"/>
            </a:srgbClr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43216" y="2267712"/>
            <a:ext cx="3803904" cy="3255264"/>
          </a:xfrm>
          <a:prstGeom prst="roundRect">
            <a:avLst>
              <a:gd name="adj" fmla="val 2528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44384" y="2505456"/>
            <a:ext cx="1591056" cy="438912"/>
          </a:xfrm>
          <a:prstGeom prst="roundRect">
            <a:avLst>
              <a:gd name="adj" fmla="val 50000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4384" y="250545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00032" y="2505456"/>
            <a:ext cx="1591056" cy="438912"/>
          </a:xfrm>
          <a:prstGeom prst="roundRect">
            <a:avLst>
              <a:gd name="adj" fmla="val 50000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250545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coches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44384" y="3072384"/>
            <a:ext cx="1591056" cy="438912"/>
          </a:xfrm>
          <a:prstGeom prst="roundRect">
            <a:avLst>
              <a:gd name="adj" fmla="val 50000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4384" y="30723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Lavavajillas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00032" y="3072384"/>
            <a:ext cx="1591056" cy="438912"/>
          </a:xfrm>
          <a:prstGeom prst="roundRect">
            <a:avLst>
              <a:gd name="adj" fmla="val 50000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30723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Taladro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44384" y="3639312"/>
            <a:ext cx="1591056" cy="438912"/>
          </a:xfrm>
          <a:prstGeom prst="roundRect">
            <a:avLst>
              <a:gd name="adj" fmla="val 50000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4384" y="363931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Despensa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00032" y="3639312"/>
            <a:ext cx="1591056" cy="438912"/>
          </a:xfrm>
          <a:prstGeom prst="roundRect">
            <a:avLst>
              <a:gd name="adj" fmla="val 50000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363931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Bicicletas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44384" y="4206240"/>
            <a:ext cx="1591056" cy="438912"/>
          </a:xfrm>
          <a:prstGeom prst="roundRect">
            <a:avLst>
              <a:gd name="adj" fmla="val 50000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4384" y="420624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00032" y="4206240"/>
            <a:ext cx="1591056" cy="438912"/>
          </a:xfrm>
          <a:prstGeom prst="roundRect">
            <a:avLst>
              <a:gd name="adj" fmla="val 50000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00032" y="420624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44384" y="488289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 todo lo demás que hay en casa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59168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sitio donde está todo, y que además avisa.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de casa está. Lo que no está es junto.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sobre lo que hay en un hogar vive repartida en sitios que no se hablan entre sí, y el pegamento acaba siendo la memoria de quien lleva la casa.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ITV, en el calendario del móvil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manual de la caldera, en un cajón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del garaje, «en la cabeza»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mantenimiento, recordado por costumbre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garantías, en el sobre de la compra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645152"/>
            <a:ext cx="4617720" cy="1234440"/>
          </a:xfrm>
          <a:prstGeom prst="roundRect">
            <a:avLst>
              <a:gd name="adj" fmla="val 6667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4645152"/>
            <a:ext cx="4032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C2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lo que se olvida no avisa: se descubre el día de la avería.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-240000">
            <a:off x="5532120" y="1572768"/>
            <a:ext cx="2743200" cy="932688"/>
          </a:xfrm>
          <a:prstGeom prst="roundRect">
            <a:avLst>
              <a:gd name="adj" fmla="val 8824"/>
            </a:avLst>
          </a:prstGeom>
          <a:solidFill>
            <a:srgbClr val="EFF4F2"/>
          </a:solidFill>
          <a:ln w="12700">
            <a:solidFill>
              <a:srgbClr val="D3DFDC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 rot="-240000">
            <a:off x="5751576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cálculo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 rot="-240000">
            <a:off x="5751576" y="204825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«inventario_v3_FINAL»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300000">
            <a:off x="8732520" y="1783080"/>
            <a:ext cx="2788920" cy="932688"/>
          </a:xfrm>
          <a:prstGeom prst="roundRect">
            <a:avLst>
              <a:gd name="adj" fmla="val 8824"/>
            </a:avLst>
          </a:prstGeom>
          <a:solidFill>
            <a:srgbClr val="EFF4F2"/>
          </a:solidFill>
          <a:ln w="12700">
            <a:solidFill>
              <a:srgbClr val="D3DFDC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 rot="300000">
            <a:off x="8951976" y="1929384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papeles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 rot="300000">
            <a:off x="8951976" y="2258568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y manuales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180000">
            <a:off x="5715000" y="3017520"/>
            <a:ext cx="2788920" cy="932688"/>
          </a:xfrm>
          <a:prstGeom prst="roundRect">
            <a:avLst>
              <a:gd name="adj" fmla="val 8824"/>
            </a:avLst>
          </a:prstGeom>
          <a:solidFill>
            <a:srgbClr val="EFF4F2"/>
          </a:solidFill>
          <a:ln w="12700">
            <a:solidFill>
              <a:srgbClr val="D3DFDC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 rot="180000">
            <a:off x="5934456" y="3163824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sueltos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 rot="180000">
            <a:off x="5934456" y="3493008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no se silenciaron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-300000">
            <a:off x="8686800" y="3310128"/>
            <a:ext cx="2788920" cy="932688"/>
          </a:xfrm>
          <a:prstGeom prst="roundRect">
            <a:avLst>
              <a:gd name="adj" fmla="val 8824"/>
            </a:avLst>
          </a:prstGeom>
          <a:solidFill>
            <a:srgbClr val="EFF4F2"/>
          </a:solidFill>
          <a:ln w="12700">
            <a:solidFill>
              <a:srgbClr val="D3DFDC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 rot="-300000">
            <a:off x="8906256" y="3456432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«Lo tengo en la cabeza»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 rot="-300000">
            <a:off x="8906256" y="3785616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hace falta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4983480"/>
            <a:ext cx="6108192" cy="896112"/>
          </a:xfrm>
          <a:prstGeom prst="roundRect">
            <a:avLst>
              <a:gd name="adj" fmla="val 9184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4983480"/>
            <a:ext cx="5559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sitios habla con los demás, y ninguno crece contigo: la hoja que servía para el garaje no sirve para la despensa.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IDEA, EN UNA FRASE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81328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ERP para el hogar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1417320" y="2999232"/>
            <a:ext cx="9354312" cy="1261872"/>
          </a:xfrm>
          <a:prstGeom prst="roundRect">
            <a:avLst>
              <a:gd name="adj" fmla="val 6522"/>
            </a:avLst>
          </a:prstGeom>
          <a:solidFill>
            <a:srgbClr val="163A38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3080" y="2999232"/>
            <a:ext cx="86227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núcleo mínimo que resuelve lo esencial —dar de alta, ubicar y clasificar todo lo que hay en casa— y módulos que se van encendiendo a medida que aparece la necesidad.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590288"/>
            <a:ext cx="3502152" cy="1298448"/>
          </a:xfrm>
          <a:prstGeom prst="roundRect">
            <a:avLst>
              <a:gd name="adj" fmla="val 6338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548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FC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esencial, siempre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5138928"/>
            <a:ext cx="2953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es lo único obligatorio, y funciona con todos los módulos apagados.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4590288"/>
            <a:ext cx="3502152" cy="1298448"/>
          </a:xfrm>
          <a:prstGeom prst="roundRect">
            <a:avLst>
              <a:gd name="adj" fmla="val 6338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47548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FC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demás, cuando toque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17720" y="5138928"/>
            <a:ext cx="2953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Enciendes solo lo que tu casa necesita, en el momento en que lo necesita.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4590288"/>
            <a:ext cx="3502152" cy="1298448"/>
          </a:xfrm>
          <a:prstGeom prst="roundRect">
            <a:avLst>
              <a:gd name="adj" fmla="val 6338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4754880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FC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volver a empezar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12480" y="5138928"/>
            <a:ext cx="2953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lo ya cargado hay que rehacerlo al encender un módulo nuevo.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VIENE LA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un ERP hace por una fábrica, en tu casa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los nombres y el tamaño. La disciplina de gestión es exactamente la misma.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EMPRESA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88152" y="164592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CASA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4343400" cy="502920"/>
          </a:xfrm>
          <a:prstGeom prst="roundRect">
            <a:avLst>
              <a:gd name="adj" fmla="val 16364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938528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productivos: maquinaria, líneas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84648" y="2066544"/>
            <a:ext cx="438912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8152" y="1938528"/>
            <a:ext cx="5760720" cy="502920"/>
          </a:xfrm>
          <a:prstGeom prst="roundRect">
            <a:avLst>
              <a:gd name="adj" fmla="val 16364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25896" y="1938528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Electrodomésticos, vehículos, mobiliario, herramientas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4343400" cy="502920"/>
          </a:xfrm>
          <a:prstGeom prst="roundRect">
            <a:avLst>
              <a:gd name="adj" fmla="val 16364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51460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preventivo y correctivo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84648" y="2642616"/>
            <a:ext cx="438912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8152" y="2514600"/>
            <a:ext cx="5760720" cy="502920"/>
          </a:xfrm>
          <a:prstGeom prst="roundRect">
            <a:avLst>
              <a:gd name="adj" fmla="val 16364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25896" y="251460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la caldera, ITV, cambio de filtros, garantías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90672"/>
            <a:ext cx="4343400" cy="502920"/>
          </a:xfrm>
          <a:prstGeom prst="roundRect">
            <a:avLst>
              <a:gd name="adj" fmla="val 16364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090672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 e inventario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84648" y="3218688"/>
            <a:ext cx="438912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8152" y="3090672"/>
            <a:ext cx="5760720" cy="502920"/>
          </a:xfrm>
          <a:prstGeom prst="roundRect">
            <a:avLst>
              <a:gd name="adj" fmla="val 16364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3090672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Despensa, garaje, trastero, botiquín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666744"/>
            <a:ext cx="4343400" cy="502920"/>
          </a:xfrm>
          <a:prstGeom prst="roundRect">
            <a:avLst>
              <a:gd name="adj" fmla="val 16364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666744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aprovisionamiento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84648" y="3794760"/>
            <a:ext cx="438912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88152" y="3666744"/>
            <a:ext cx="5760720" cy="502920"/>
          </a:xfrm>
          <a:prstGeom prst="roundRect">
            <a:avLst>
              <a:gd name="adj" fmla="val 16364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25896" y="3666744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la compra, reposición de lo que se agota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242816"/>
            <a:ext cx="4343400" cy="502920"/>
          </a:xfrm>
          <a:prstGeom prst="roundRect">
            <a:avLst>
              <a:gd name="adj" fmla="val 16364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242816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de proveedores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84648" y="4370832"/>
            <a:ext cx="438912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152" y="4242816"/>
            <a:ext cx="5760720" cy="502920"/>
          </a:xfrm>
          <a:prstGeom prst="roundRect">
            <a:avLst>
              <a:gd name="adj" fmla="val 16364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25896" y="4242816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Fontanero, servicio técnico de la caldera, taller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818888"/>
            <a:ext cx="4343400" cy="502920"/>
          </a:xfrm>
          <a:prstGeom prst="roundRect">
            <a:avLst>
              <a:gd name="adj" fmla="val 16364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818888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producción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84648" y="4946904"/>
            <a:ext cx="438912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88152" y="4818888"/>
            <a:ext cx="5760720" cy="502920"/>
          </a:xfrm>
          <a:prstGeom prst="roundRect">
            <a:avLst>
              <a:gd name="adj" fmla="val 16364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5896" y="4818888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casa, turnos, rutinas familiares, menú semanal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394960"/>
            <a:ext cx="4343400" cy="502920"/>
          </a:xfrm>
          <a:prstGeom prst="roundRect">
            <a:avLst>
              <a:gd name="adj" fmla="val 16364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539496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y eventos puntuales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84648" y="5522976"/>
            <a:ext cx="438912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88152" y="5394960"/>
            <a:ext cx="5760720" cy="502920"/>
          </a:xfrm>
          <a:prstGeom prst="roundRect">
            <a:avLst>
              <a:gd name="adj" fmla="val 16364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25896" y="539496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Mudanzas, reformas, celebraciones, viajes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pasos, y solo el primero es obligatorio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658368" cy="658368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770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de alta lo que tienes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vez, y con sus papeles: la factura, el manual, la garantía, la foto de la etiqueta. Dónde está, de quién es y en qué estado.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78224" y="3172968"/>
            <a:ext cx="237744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6916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075688"/>
            <a:ext cx="658368" cy="658368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2926080"/>
            <a:ext cx="2770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Enciendes lo que te hace falta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384048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que tu casa necesita, cuando lo necesita. Y sin rehacer nada de lo ya cargado: lo que diste de alta sigue exactamente donde estaba.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72984" y="3172968"/>
            <a:ext cx="237744" cy="237744"/>
          </a:xfrm>
          <a:prstGeom prst="rightArrow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6916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2075688"/>
            <a:ext cx="658368" cy="658368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03920" y="2926080"/>
            <a:ext cx="2770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 partir de ahí, te avisa él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0" y="384048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revisión de la caldera, la ITV, lo que caduca, lo que prestaste y no ha vuelto. Un aviso antes, no un disgusto después.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8523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1 es lo único que hay que hacer para empezar. Los pasos 2 y 3 esperan a que el hogar los pida, y hasta entonces no estorban.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 HOY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está construido y funcionando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cosas que todo hogar necesita antes de encender ningún módulo. Están hechas, y son el suelo sobre el que se apoya todo lo demás.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11680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116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HAY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523744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caldera hasta el paquete de harina. Lo que dura y lo que se gasta, cada uno contado a su manera.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011680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0116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36008" y="2523744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casa por dentro: plantas, habitaciones, muebles, estantes. Y un mueble también guarda cosas, no solo una habitación.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30768" y="2011680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0116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QUIÉN 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30768" y="2523744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Propietario, responsable y estado de cada cosa. Nada se borra: lo que causa baja se marca, y su historia se conserva.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114800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1C4644"/>
          </a:solidFill>
          <a:ln w="9525">
            <a:solidFill>
              <a:srgbClr val="1C4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1148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PAPELES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248" y="4626864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Factura, manual, garantía y fotos, guardados junto al aparato al que pertenecen y no en un cajón aparte.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384048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4114800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1C4644"/>
          </a:solidFill>
          <a:ln w="9525">
            <a:solidFill>
              <a:srgbClr val="1C46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41148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ENTRA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36008" y="4626864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de la casa, con su cuenta. Se entra por invitación, y quien administra decide qué puede tocar cada cual.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3840480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30768" y="4114800"/>
            <a:ext cx="1810512" cy="347472"/>
          </a:xfrm>
          <a:prstGeom prst="roundRect">
            <a:avLst>
              <a:gd name="adj" fmla="val 50000"/>
            </a:avLst>
          </a:prstGeom>
          <a:solidFill>
            <a:srgbClr val="1C4644"/>
          </a:solidFill>
          <a:ln w="9525">
            <a:solidFill>
              <a:srgbClr val="1C46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0768" y="41148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PRESTAS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30768" y="4626864"/>
            <a:ext cx="2916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se llevó el taladro y cuándo dijo que lo traía. Él confirma la devolución desde su propio enlace, sin darse de alta.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79729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seis depende de que haya un módulo encendido: son del núcleo, y el núcleo está entero.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DÍA CON DRP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familia, una caldera, dos coches y un garaje lleno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62456" y="1499616"/>
            <a:ext cx="960120" cy="96012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62456" y="149961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87752" cy="2606040"/>
          </a:xfrm>
          <a:prstGeom prst="roundRect">
            <a:avLst>
              <a:gd name="adj" fmla="val 318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962656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Toca la revisión de la caldera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931920"/>
            <a:ext cx="207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aviso llegó el viernes, con margen para llamar. En su ficha están el teléfono del servicio técnico y la última intervención.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22576" y="1975104"/>
            <a:ext cx="1874520" cy="0"/>
          </a:xfrm>
          <a:prstGeom prst="line">
            <a:avLst/>
          </a:prstGeom>
          <a:noFill/>
          <a:ln w="19050">
            <a:solidFill>
              <a:srgbClr val="C3D2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97096" y="1499616"/>
            <a:ext cx="960120" cy="960120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7096" y="149961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587752" cy="2606040"/>
          </a:xfrm>
          <a:prstGeom prst="roundRect">
            <a:avLst>
              <a:gd name="adj" fmla="val 318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39312" y="2962656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¿Queda café?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3931920"/>
            <a:ext cx="207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despensa lo sabe sin abrir el armario, y lo que baja del mínimo aparece por sí solo en la lista de la compra.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57216" y="1975104"/>
            <a:ext cx="1874520" cy="0"/>
          </a:xfrm>
          <a:prstGeom prst="line">
            <a:avLst/>
          </a:prstGeom>
          <a:noFill/>
          <a:ln w="19050">
            <a:solidFill>
              <a:srgbClr val="C3D2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1499616"/>
            <a:ext cx="960120" cy="96012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31736" y="149961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587752" cy="2606040"/>
          </a:xfrm>
          <a:prstGeom prst="roundRect">
            <a:avLst>
              <a:gd name="adj" fmla="val 318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2962656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vecino se lleva el taladro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3952" y="3931920"/>
            <a:ext cx="207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anotado con su fecha de vuelta. Él confirma la devolución desde su propio enlace, sin darse de alta en nada.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91856" y="1975104"/>
            <a:ext cx="1874520" cy="0"/>
          </a:xfrm>
          <a:prstGeom prst="line">
            <a:avLst/>
          </a:prstGeom>
          <a:noFill/>
          <a:ln w="19050">
            <a:solidFill>
              <a:srgbClr val="C3D2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66376" y="1499616"/>
            <a:ext cx="960120" cy="960120"/>
          </a:xfrm>
          <a:prstGeom prst="ellipse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66376" y="149961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21:45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52560" y="2743200"/>
            <a:ext cx="2587752" cy="2606040"/>
          </a:xfrm>
          <a:prstGeom prst="roundRect">
            <a:avLst>
              <a:gd name="adj" fmla="val 318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08592" y="2962656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rompe el lavavajillas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08592" y="3931920"/>
            <a:ext cx="207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Modelo, factura, garantía y el taller que lo instaló, en la misma ficha. La llamada dura dos minutos.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559552"/>
            <a:ext cx="11094415" cy="566928"/>
          </a:xfrm>
          <a:prstGeom prst="roundRect">
            <a:avLst>
              <a:gd name="adj" fmla="val 14516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55955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ilustrativa: ningún hogar real usa todavía DRP. Todo lo que ocurre en ella está construido, pero aún no desplegado.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CONTIGO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Trece módulos. Enciendes los que quieras, cuando quieras.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es obligatorio y el núcleo funciona con todos apagados. Apagar uno tampoco borra nada: los datos siguen ahí si vuelves a encenderlo.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CONSTRUIDO</a:t>
            </a:r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 módulos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22728" cy="1325880"/>
          </a:xfrm>
          <a:prstGeom prst="roundRect">
            <a:avLst>
              <a:gd name="adj" fmla="val 6207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48256"/>
            <a:ext cx="222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arregla qué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222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D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fontanero, el servicio técnico, el taller. Quién viene, quién cobra y quién responde de una garantía.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2536" y="1920240"/>
            <a:ext cx="2622728" cy="1325880"/>
          </a:xfrm>
          <a:prstGeom prst="roundRect">
            <a:avLst>
              <a:gd name="adj" fmla="val 6207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3704" y="2048256"/>
            <a:ext cx="222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despensa y el trastero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73704" y="2468880"/>
            <a:ext cx="222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D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hay, cuánto queda, qué está a punto de caducar y qué conviene reponer.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6432" y="1920240"/>
            <a:ext cx="2622728" cy="1325880"/>
          </a:xfrm>
          <a:prstGeom prst="roundRect">
            <a:avLst>
              <a:gd name="adj" fmla="val 6207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7600" y="2048256"/>
            <a:ext cx="222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la compra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97600" y="2468880"/>
            <a:ext cx="222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D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falta, qué hay que reponer y qué está ya pedido. Lo que se recibe entra por sí solo en la despensa.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20327" y="1920240"/>
            <a:ext cx="2622728" cy="1325880"/>
          </a:xfrm>
          <a:prstGeom prst="roundRect">
            <a:avLst>
              <a:gd name="adj" fmla="val 6207"/>
            </a:avLst>
          </a:prstGeom>
          <a:solidFill>
            <a:srgbClr val="2E7B72"/>
          </a:solidFill>
          <a:ln w="12700">
            <a:solidFill>
              <a:srgbClr val="2E7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1495" y="2048256"/>
            <a:ext cx="222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mantenimiento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21495" y="2468880"/>
            <a:ext cx="222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D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que se repiten solas, cada una con su aviso y su histórico de intervenciones.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40156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SIGUIENTE</a:t>
            </a:r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 módulos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3564026" cy="1051560"/>
          </a:xfrm>
          <a:prstGeom prst="roundRect">
            <a:avLst>
              <a:gd name="adj" fmla="val 7826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803904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y turnos de casa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808" y="4224528"/>
            <a:ext cx="316169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Rutinas, recordatorios y a quién le toca esta semana.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3834" y="3675888"/>
            <a:ext cx="3564026" cy="1051560"/>
          </a:xfrm>
          <a:prstGeom prst="roundRect">
            <a:avLst>
              <a:gd name="adj" fmla="val 7826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5002" y="3803904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y presupuesto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15002" y="4224528"/>
            <a:ext cx="316169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lo que entra en casa, y el presupuesto por periodo.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79029" y="3675888"/>
            <a:ext cx="3564026" cy="1051560"/>
          </a:xfrm>
          <a:prstGeom prst="roundRect">
            <a:avLst>
              <a:gd name="adj" fmla="val 7826"/>
            </a:avLst>
          </a:prstGeom>
          <a:solidFill>
            <a:srgbClr val="E3EDEA"/>
          </a:solidFill>
          <a:ln w="12700">
            <a:solidFill>
              <a:srgbClr val="C3D2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0197" y="3803904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Mudanzas, reformas y viajes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80197" y="4224528"/>
            <a:ext cx="316169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con principio, fin y sus cosas asociadas.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86460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B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ADELANTE</a:t>
            </a:r>
            <a:pPr indent="0" marL="0">
              <a:buNone/>
            </a:pPr>
            <a:r>
              <a:rPr lang="en-US" sz="10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 módulos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138928"/>
            <a:ext cx="1711909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138928"/>
            <a:ext cx="14924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avanzados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25141" y="5138928"/>
            <a:ext cx="1711909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4869" y="5138928"/>
            <a:ext cx="14924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y menú semanal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01642" y="5138928"/>
            <a:ext cx="1711909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1370" y="5138928"/>
            <a:ext cx="14924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uso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8144" y="5138928"/>
            <a:ext cx="1711909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7872" y="5138928"/>
            <a:ext cx="14924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vida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54645" y="5138928"/>
            <a:ext cx="1711909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64373" y="5138928"/>
            <a:ext cx="14924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y seguros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931146" y="5138928"/>
            <a:ext cx="1711909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40874" y="5138928"/>
            <a:ext cx="149245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 y plantas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592531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de arriba están construidos enteros. Los otros nueve tienen sitio reservado, no promesa de fecha.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SE AGRADECE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que acordarse: te avisa él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lo que se olvida en una casa se olvida por una fecha. Vigilar fechas es exactamente lo que una máquina hace mejor que una persona.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2057949" cy="3054096"/>
          </a:xfrm>
          <a:prstGeom prst="roundRect">
            <a:avLst>
              <a:gd name="adj" fmla="val 399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150930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caduca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19856"/>
            <a:ext cx="15093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yogur del fondo, la medicina del botiquín, la pila del detector de humo.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34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07757" y="1719072"/>
            <a:ext cx="2057949" cy="3054096"/>
          </a:xfrm>
          <a:prstGeom prst="roundRect">
            <a:avLst>
              <a:gd name="adj" fmla="val 399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82077" y="2011680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2077" y="2560320"/>
            <a:ext cx="150930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revisión que toca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82077" y="3419856"/>
            <a:ext cx="15093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caldera, el filtro del extractor, la ITV de cada coche.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82077" y="443484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2077" y="4434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66873" y="1719072"/>
            <a:ext cx="2057949" cy="3054096"/>
          </a:xfrm>
          <a:prstGeom prst="roundRect">
            <a:avLst>
              <a:gd name="adj" fmla="val 399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1193" y="2011680"/>
            <a:ext cx="402336" cy="402336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1193" y="2560320"/>
            <a:ext cx="150930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prestaste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1193" y="3419856"/>
            <a:ext cx="15093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fecha en la que dijeron que lo devolvían.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41193" y="443484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1193" y="4434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25990" y="1719072"/>
            <a:ext cx="2057949" cy="3054096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0310" y="2011680"/>
            <a:ext cx="402336" cy="402336"/>
          </a:xfrm>
          <a:prstGeom prst="ellipse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0310" y="2560320"/>
            <a:ext cx="150930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5F7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garantía que vence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00310" y="3419856"/>
            <a:ext cx="15093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Avisada antes de vencer, que es cuando sirve de algo.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00310" y="443484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 w="9525">
            <a:solidFill>
              <a:srgbClr val="D3DF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0310" y="4434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85107" y="1719072"/>
            <a:ext cx="2057949" cy="3054096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59427" y="2011680"/>
            <a:ext cx="402336" cy="402336"/>
          </a:xfrm>
          <a:prstGeom prst="ellipse">
            <a:avLst/>
          </a:prstGeom>
          <a:solidFill>
            <a:srgbClr val="C3D2CF"/>
          </a:solidFill>
          <a:ln w="6350">
            <a:solidFill>
              <a:srgbClr val="C3D2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9427" y="2560320"/>
            <a:ext cx="150930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5F7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perro y las plantas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59427" y="3419856"/>
            <a:ext cx="15093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Vacuna, veterinario, desparasitación, riego y poda.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859427" y="443484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 w="9525">
            <a:solidFill>
              <a:srgbClr val="D3DF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59427" y="4434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4956048"/>
            <a:ext cx="11094415" cy="1170432"/>
          </a:xfrm>
          <a:prstGeom prst="roundRect">
            <a:avLst>
              <a:gd name="adj" fmla="val 7031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120640"/>
            <a:ext cx="10180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resumen al día, con lo que haya.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05840" y="5541264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ninguno los días en que no hay nada que contar, que es la diferencia entre un sistema que ayuda y uno que se acaba silenciando.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CASA, TUS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Separados de los del resto, con dos barreras y no una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hogares comparten el mismo sistema, como comparten edificio varios vecinos. Lo que no comparten es nada de lo que hay dentro.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39696"/>
            <a:ext cx="548640" cy="54864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72768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solo pregunta por tu hogar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852928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lleva escrito de qué casa viene, y esa es la única que se atiende. Nunca la que llegue escrita desde fuera.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11112" y="2139696"/>
            <a:ext cx="548640" cy="548640"/>
          </a:xfrm>
          <a:prstGeom prst="ellipse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la base de datos vuelve a comprobarlo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38544" y="2852928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primera barrera fallara, por debajo hay una segunda que no entrega ni una sola fila que no sea de tu hogar.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79392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correo se verifica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700016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hogar no existe de verdad hasta que alguien confirma su correo, y sumar a una persona es siempre por invitación.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411480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279392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papeles viven en tu servidor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17720" y="4700016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Facturas, manuales y fotos se guardan en el servidor del hogar, con un giga de cuota por casa.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411480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4279392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borra por accidente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0" y="4700016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de baja es marcar, no destruir. Lo que pasó en tu casa se puede seguir consultando después.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724144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protección que exige una empresa a su sistema de gestión, aplicada a una casa que no tiene departamento de informática.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USA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móvil, de pie en el trastero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del garaje no se consulta sentado en un escritorio: se consulta con una mano, delante de la estantería. Por eso está diseñado primero para el móvil y después para la pantalla grande, y no al revés.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5029200" cy="1060704"/>
          </a:xfrm>
          <a:prstGeom prst="roundRect">
            <a:avLst>
              <a:gd name="adj" fmla="val 7759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883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el móvil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una pantalla pequeña de 375 píxeles hasta un monitor ultrapanorámico, sin perder nada por el camino.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30752"/>
            <a:ext cx="502920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770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puede usar todo el mundo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maneja entero con el teclado, se lee con lector de pantalla y los colores tienen contraste suficiente para leerse de verdad.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919472"/>
            <a:ext cx="502920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Comprobado, no prometido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4132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accesibilidad se verifica en un navegador real en cada entrega, contra el estándar WCAG 2.2 en su nivel AA.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481328"/>
            <a:ext cx="1874520" cy="3931920"/>
          </a:xfrm>
          <a:prstGeom prst="roundRect">
            <a:avLst>
              <a:gd name="adj" fmla="val 9756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1737360"/>
            <a:ext cx="1636776" cy="3419856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86537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Trastero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2784" y="2231136"/>
            <a:ext cx="1399032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231136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Taladro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72784" y="2734056"/>
            <a:ext cx="1399032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734056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Escalera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72784" y="3236976"/>
            <a:ext cx="1399032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236976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tornillos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72784" y="3739896"/>
            <a:ext cx="1399032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739896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Bicicleta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72784" y="4242816"/>
            <a:ext cx="1399032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242816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Sombrilla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5522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 px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75320" y="1481328"/>
            <a:ext cx="3364992" cy="2651760"/>
          </a:xfrm>
          <a:prstGeom prst="roundRect">
            <a:avLst>
              <a:gd name="adj" fmla="val 3448"/>
            </a:avLst>
          </a:prstGeom>
          <a:solidFill>
            <a:srgbClr val="12312F"/>
          </a:solidFill>
          <a:ln w="6350">
            <a:solidFill>
              <a:srgbClr val="12312F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03336" y="1609344"/>
            <a:ext cx="310896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67928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Trastero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67928" y="2103120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77656" y="21031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Taladro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994392" y="2103120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21031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67928" y="2606040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77656" y="26060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tornillos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94392" y="2606040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04120" y="26060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Bicicleta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67928" y="3108960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7656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Sombrilla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994392" y="3108960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E3EDEA"/>
          </a:solidFill>
          <a:ln w="6350">
            <a:solidFill>
              <a:srgbClr val="E3ED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0412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Manguera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546336" y="4133088"/>
            <a:ext cx="822960" cy="146304"/>
          </a:xfrm>
          <a:prstGeom prst="rect">
            <a:avLst/>
          </a:prstGeom>
          <a:solidFill>
            <a:srgbClr val="1C4644"/>
          </a:solidFill>
          <a:ln w="6350">
            <a:solidFill>
              <a:srgbClr val="1C46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43891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ultrapanorámico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75320" y="4754880"/>
            <a:ext cx="3364992" cy="1097280"/>
          </a:xfrm>
          <a:prstGeom prst="roundRect">
            <a:avLst>
              <a:gd name="adj" fmla="val 75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49640" y="475488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C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contenido, ordenado de otra forma. No es una versión recortada del móvil ni una web grande apretada.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fases cerradas, la cuarta sin empezar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39596" y="1371600"/>
            <a:ext cx="1005840" cy="100584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9596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15184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81635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63931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qué alcance tiene y cómo se comprueba que funciona de verdad.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45171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517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45436" y="1874520"/>
            <a:ext cx="1828800" cy="0"/>
          </a:xfrm>
          <a:prstGeom prst="line">
            <a:avLst/>
          </a:prstGeom>
          <a:noFill/>
          <a:ln w="19050">
            <a:solidFill>
              <a:srgbClr val="C3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74236" y="1371600"/>
            <a:ext cx="1005840" cy="100584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4236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2615184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9312" y="281635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39312" y="363931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entero, con pantallas para todos sus flujos. Cerrada el 17 de agosto de 2026.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39312" y="45171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4517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80076" y="1874520"/>
            <a:ext cx="1828800" cy="0"/>
          </a:xfrm>
          <a:prstGeom prst="line">
            <a:avLst/>
          </a:prstGeom>
          <a:noFill/>
          <a:ln w="19050">
            <a:solidFill>
              <a:srgbClr val="C3D2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08876" y="1371600"/>
            <a:ext cx="1005840" cy="100584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8876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2615184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73952" y="281635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módulos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73952" y="363931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módulos y el mecanismo que los enciende hogar por hogar. Cerrada el 19 de agosto de 2026.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45171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E7B72"/>
          </a:solidFill>
          <a:ln w="9525">
            <a:solidFill>
              <a:srgbClr val="2E7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4517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14716" y="1874520"/>
            <a:ext cx="1828800" cy="0"/>
          </a:xfrm>
          <a:prstGeom prst="line">
            <a:avLst/>
          </a:prstGeom>
          <a:noFill/>
          <a:ln w="19050">
            <a:solidFill>
              <a:srgbClr val="E0E8E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843516" y="1371600"/>
            <a:ext cx="1005840" cy="1005840"/>
          </a:xfrm>
          <a:prstGeom prst="ellipse">
            <a:avLst/>
          </a:prstGeom>
          <a:solidFill>
            <a:srgbClr val="E7EDEB"/>
          </a:solidFill>
          <a:ln w="6350">
            <a:solidFill>
              <a:srgbClr val="E7ED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3516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052560" y="2615184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3DF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281635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resto de módulos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308592" y="363931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nueve que faltan, por orden de prioridad. Todavía sin planificar.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08592" y="45171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 w="9525">
            <a:solidFill>
              <a:srgbClr val="D3DF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08592" y="4517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138928"/>
            <a:ext cx="11094415" cy="1042416"/>
          </a:xfrm>
          <a:prstGeom prst="roundRect">
            <a:avLst>
              <a:gd name="adj" fmla="val 7895"/>
            </a:avLst>
          </a:prstGeom>
          <a:solidFill>
            <a:srgbClr val="F7E9E2"/>
          </a:solidFill>
          <a:ln w="6350">
            <a:solidFill>
              <a:srgbClr val="F7E9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138928"/>
            <a:ext cx="1036289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todavía no hay: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servidor contratado, ningún hogar real dentro y nadie usando esto para saber dónde está el taladro. Por eso los cuatro módulos construidos siguen diciendo «en desarrollo» y no «en producción»: el código está entero, el despliegue no ha empezado.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NÚMEROS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hay, contado sin adornos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4937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737360"/>
            <a:ext cx="5836615" cy="1188720"/>
          </a:xfrm>
          <a:prstGeom prst="roundRect">
            <a:avLst>
              <a:gd name="adj" fmla="val 6923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17336" y="1938528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C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4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09560" y="195681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CERRADAS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09560" y="2249424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cuarta ni siquiera está planificada todavía: convertirla en un plan es un trabajo en sí mismo.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06440" y="3127248"/>
            <a:ext cx="5836615" cy="1188720"/>
          </a:xfrm>
          <a:prstGeom prst="roundRect">
            <a:avLst>
              <a:gd name="adj" fmla="val 6923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17336" y="3328416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C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 13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909560" y="3346704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CONSTRUIDOS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09560" y="3639312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Enteros, no maquetas: con sus pantallas, sus avisos y sus pruebas. Los otros nueve tienen sitio, no fecha.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4517136"/>
            <a:ext cx="5836615" cy="1188720"/>
          </a:xfrm>
          <a:prstGeom prst="roundRect">
            <a:avLst>
              <a:gd name="adj" fmla="val 6923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17336" y="4718304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5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7909560" y="4736592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USÁNDOLO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09560" y="5029200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despliegue ni servidor contratado. Es exactamente lo siguiente que este proyecto necesita.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58887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cifras está estimada: todas se pueden comprobar en el propio proyecto el día que se lea esta presentación.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 Y QUÉ SE BUSCA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huecos, y las tres cosas que los llenan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EFF4F2"/>
          </a:solidFill>
          <a:ln w="6350">
            <a:solidFill>
              <a:srgbClr val="EFF4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5564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96112" y="2231136"/>
            <a:ext cx="365760" cy="36576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servidor donde vivir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5968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está medido con consumo real y la máquina está elegida. Lo que no está es contratada.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3374136"/>
            <a:ext cx="365760" cy="36576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hogares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7398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decisiones del producto están esperando a que haya casas de verdad para poder contestarse.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" y="4517136"/>
            <a:ext cx="365760" cy="36576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nueve módulos que quedan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8828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pide inventar nada nuevo: el camino de un módulo ya está recorrido cuatro veces enteras.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91072" y="1481328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1E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38544" y="175564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D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BUSCA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38544" y="2231136"/>
            <a:ext cx="365760" cy="3657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59752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9752" y="25968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D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despliegue, para sostenerlo en marcha y para el tiempo que la Fase 3 necesita.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38544" y="3374136"/>
            <a:ext cx="365760" cy="3657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59752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Colaboradores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59752" y="37398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D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quiera construir un módulo tiene cuatro ejemplos completos delante y un camino escrito.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38544" y="4517136"/>
            <a:ext cx="365760" cy="3657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59752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Hogares piloto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59752" y="48828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D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pieza que ninguna cantidad de código sustituye: casas de verdad, con sus cosas de verdad dentro.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742432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tres se puede comprar con las otras dos: sin hogares reales hay preguntas de producto que no tienen forma de contestarse.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construido funciona entero. Le falta una casa dentro.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de software se demuestra ejecutándose en casa de alguien. Esa es, hoy, la única frontera que a DRP le queda por cruzar.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63A38"/>
          </a:solidFill>
          <a:ln w="19050">
            <a:solidFill>
              <a:srgbClr val="7FC8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60320"/>
            <a:ext cx="457200" cy="457200"/>
          </a:xfrm>
          <a:prstGeom prst="ellipse">
            <a:avLst/>
          </a:prstGeom>
          <a:solidFill>
            <a:srgbClr val="2E7B72"/>
          </a:solidFill>
          <a:ln w="6350">
            <a:solidFill>
              <a:srgbClr val="2E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Abre tu hogar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62102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uno de los primeros hogares piloto. Tus preguntas valen más que las respuestas que podamos inventarnos.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2560320"/>
            <a:ext cx="457200" cy="457200"/>
          </a:xfrm>
          <a:prstGeom prst="ellipse">
            <a:avLst/>
          </a:prstGeom>
          <a:solidFill>
            <a:srgbClr val="7FC8BE"/>
          </a:solidFill>
          <a:ln w="6350">
            <a:solidFill>
              <a:srgbClr val="7FC8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Construye un módulo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36008" y="362102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tienen sitio reservado. Cuatro caminos completos están escritos para copiarlos.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2560320"/>
            <a:ext cx="457200" cy="457200"/>
          </a:xfrm>
          <a:prstGeom prst="ellipse">
            <a:avLst/>
          </a:prstGeom>
          <a:solidFill>
            <a:srgbClr val="C25A32"/>
          </a:solidFill>
          <a:ln w="6350">
            <a:solidFill>
              <a:srgbClr val="C25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0768" y="3108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 el despliegue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30768" y="3621024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esto en marcha y sostenerlo es lo que separa un producto construido de un producto usado.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4415" cy="1005840"/>
          </a:xfrm>
          <a:prstGeom prst="roundRect">
            <a:avLst>
              <a:gd name="adj" fmla="val 8182"/>
            </a:avLst>
          </a:prstGeom>
          <a:solidFill>
            <a:srgbClr val="1B4B4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010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5303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completar antes de cada envío.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4846320"/>
            <a:ext cx="5605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afirma esta presentación se puede comprobar en el propio proyecto.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1A4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· GRACIAS · GRACIAS · GRACIAS · GRACIAS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¿Alguna pregunta?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3749040"/>
            <a:ext cx="7434072" cy="1572768"/>
          </a:xfrm>
          <a:prstGeom prst="roundRect">
            <a:avLst>
              <a:gd name="adj" fmla="val 5233"/>
            </a:avLst>
          </a:prstGeom>
          <a:solidFill>
            <a:srgbClr val="163A38"/>
          </a:solidFill>
          <a:ln w="12700">
            <a:solidFill>
              <a:srgbClr val="2F57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3931920"/>
            <a:ext cx="7434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7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4224528"/>
            <a:ext cx="670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presentación: «Pitch Deck Minitheme», de Slidesgo.</a:t>
            </a:r>
            <a:endParaRPr lang="en-US" sz="13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4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Iconos y recursos gráficos: Flaticon y Freepik.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4901184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diapositiva se conserva por la licencia de la plantilla.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generada desde un script, no montada a mano: su fuente es el documento de diseño del proyecto.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· Domestic Resource Planning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DRP · Domestic Resource Planning — presentación comercial</dc:title>
  <dc:subject>PptxGenJS Presentation</dc:subject>
  <dc:creator>DRP</dc:creator>
  <cp:lastModifiedBy>DRP</cp:lastModifiedBy>
  <cp:revision>1</cp:revision>
  <dcterms:created xsi:type="dcterms:W3CDTF">2026-08-20T10:36:43Z</dcterms:created>
  <dcterms:modified xsi:type="dcterms:W3CDTF">2026-08-20T10:36:43Z</dcterms:modified>
</cp:coreProperties>
</file>